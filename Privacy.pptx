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83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2225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hook: “By the end, you’ll know exactly how much the internet knows about you.” Set the expectation that this is a practical lecture: we will test assumptions, build a threat model, and examine real operational failures.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Pause after the hand-raise and invite one student to explain what they think Incognito does. Clarify that browser private mode mainly limits locally saved history and session data; it is not network anonymity. The FTC's December 2024 press release describes allegations, not a final finding, and says Gravy claimed more than 17 billion signals from around a billion devices daily. Its complaint alleged location-derived sensitive lists including visits to health-related locations and places of worship.</a:t>
            </a:r>
          </a:p>
          <a:p>
            <a:endParaRPr/>
          </a:p>
          <a:p>
            <a:r>
              <a:t>Sources:</a:t>
            </a:r>
          </a:p>
          <a:p>
            <a:r>
              <a:t>- FTC, “FTC Takes Action Against Gravy Analytics, Venntel…” (2024-12-16) — https://www.ftc.gov/news-events/news/press-releases/2024/12/ftc-takes-action-against-gravy-analytics-venntel-unlawfully-selling-location-data-tracking-consumers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students which of these harms they think requires a sophisticated attacker; emphasize that many attacks scale through ordinary aggregation and tailored persuasion. The FTC location-data complaint provides a concrete example of sensitive characteristics allegedly inferred and sold; the five categories are a teaching framework, not a claim that every leak produces all outcomes.</a:t>
            </a:r>
          </a:p>
          <a:p>
            <a:endParaRPr/>
          </a:p>
          <a:p>
            <a:r>
              <a:t>Sources:</a:t>
            </a:r>
          </a:p>
          <a:p>
            <a:r>
              <a:t>- FTC, “FTC Takes Action Against Gravy Analytics, Venntel…” (2024-12-16) — https://www.ftc.gov/news-events/news/press-releases/2024/12/ftc-takes-action-against-gravy-analytics-venntel-unlawfully-selling-location-data-tracking-consumers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Signal example to show that confidentiality and unlinkability solve different problems. Then ask students to name one plausible adversary for a campus research project, one capability that adversary might have, and one consequence of compromise. The FBI's account of the Silk Road investigation illustrates how identity links outside a protected system can matter; it does not imply Tor or cryptography were broken.</a:t>
            </a:r>
          </a:p>
          <a:p>
            <a:endParaRPr/>
          </a:p>
          <a:p>
            <a:r>
              <a:t>Sources:</a:t>
            </a:r>
          </a:p>
          <a:p>
            <a:r>
              <a:t>- FBI, “Ross William Ulbricht's Laptop” (2020-12-01) — https://www.fbi.gov/history/artifacts/ross-william-ulbrichts-laptop</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that a VPN shifts trust rather than eliminating it, and that Mullvad's own page says its browser is “a Tor Browser without the Tor Network,” so anti-fingerprinting and network anonymity are different goals. Mention that Tor and VPN stacking is a specialized configuration, not an automatic upgrade.</a:t>
            </a:r>
          </a:p>
          <a:p>
            <a:endParaRPr/>
          </a:p>
          <a:p>
            <a:r>
              <a:t>Sources:</a:t>
            </a:r>
          </a:p>
          <a:p>
            <a:r>
              <a:t>- Mullvad, “Free the internet with Mullvad Browser” (2026-10-11) — https://mullvad.net/en/browser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ladder as risk-based: start with profiles and move up only as the threat justifies it. Whonix's own warning page notes that neither it nor Tor guarantees anonymity by itself, which is a good springboard to discuss why isolation must be paired with disciplined behavior.</a:t>
            </a:r>
          </a:p>
          <a:p>
            <a:endParaRPr/>
          </a:p>
          <a:p>
            <a:r>
              <a:t>Sources:</a:t>
            </a:r>
          </a:p>
          <a:p>
            <a:r>
              <a:t>- Whonix, “Warning” (2026-10-11) — https://www.whonix.org/wiki/Warning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fingerprinting needs no cookies: passive rendering details can combine into a unique profile. EFF's Cover Your Tracks is a research-backed tool for measuring this, and assigning it as homework turns the concept into a personal experiment. Mullvad's own docs say more blocking attempts can ironically reveal identity, which is a memorable takeaway.</a:t>
            </a:r>
          </a:p>
          <a:p>
            <a:endParaRPr/>
          </a:p>
          <a:p>
            <a:r>
              <a:t>Sources:</a:t>
            </a:r>
          </a:p>
          <a:p>
            <a:r>
              <a:t>- EFF, “Cover Your Tracks” (2026-10-11) — https://www.eff.org/pages/cover-your-tracks</a:t>
            </a:r>
          </a:p>
          <a:p>
            <a:r>
              <a:t>- Mullvad, “Free the internet with Mullvad Browser” (2026-10-11) — https://mullvad.net/en/browser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Push back on the overbroad claim that every prompt automatically becomes training data: [OI]’s help pages show settings vary by plan, workspace, and opt-in status, and temporary chats can still be retained for a limited safety window. Teach the habit of checking retention and training policies before sharing anything sensitive.</a:t>
            </a:r>
          </a:p>
          <a:p>
            <a:endParaRPr/>
          </a:p>
          <a:p>
            <a:r>
              <a:t>Sources:</a:t>
            </a:r>
          </a:p>
          <a:p>
            <a:r>
              <a:t>- [OI] Help Center, “How [OI] handles data in consumer services” (2026-10-11) — https://help.openai.com/en/articles/7039943-how-openai-handles-data-in-consumer-services</a:t>
            </a:r>
          </a:p>
          <a:p>
            <a:r>
              <a:t>- CIO Dive, “Samsung employees leaked corporate data in ChatGPT: report” (2023-04-07) — https://www.ciodive.com/news/Samsung-Electronics-ChatGPT-leak-data-privacy/647137/</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Have students name one public artifact that could connect two personas. Explain that face-search vendors describe photo matching as their product, but any match must be independently verified. The countermeasures—limiting face and voice exposure, separating personas, and removing metadata—reduce linkability without promising perfect anonymity.</a:t>
            </a:r>
          </a:p>
          <a:p>
            <a:endParaRPr/>
          </a:p>
          <a:p>
            <a:r>
              <a:t>Sources:</a:t>
            </a:r>
          </a:p>
          <a:p>
            <a:r>
              <a:t>- PimEyes, “Face Recognition Search Engine and Reverse Image Search” (2026-10-11) — https://pimeyes.com/en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the Strava story as a public aggregation failure: sparse exercise activity in remote regions made routes and installations stand out. For Silk Road, stick to the FBI's documented account: a 2011 forum post about the site, followed by a job post directing replies to an email registered to Ulbricht; avoid oversimplifying the entire investigation to one post. End with: cryptography didn't break; OPSEC discipline did.</a:t>
            </a:r>
          </a:p>
          <a:p>
            <a:endParaRPr/>
          </a:p>
          <a:p>
            <a:r>
              <a:t>Sources:</a:t>
            </a:r>
          </a:p>
          <a:p>
            <a:r>
              <a:t>- The Guardian, “Fitness tracking app Strava gives away location of secret US army bases” (2018-01-28) — https://www.theguardian.com/world/2018/jan/28/fitness-tracking-app-gives-away-location-of-secret-us-army-bases</a:t>
            </a:r>
          </a:p>
          <a:p>
            <a:r>
              <a:t>- FBI, “Ross William Ulbricht's Laptop” (2020-12-01) — https://www.fbi.gov/history/artifacts/ross-william-ulbrichts-laptop</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contemporary AI service policies vary; do not say every prompt automatically trains a model. The Samsung incidents were reported by CIO Dive based on Korean press coverage, and the source says Samsung did not respond to its request for comment. OpenAI's current help page, for example, explains that consumer settings affect training and that temporary chats may be retained for up to 30 days for safety purposes. The broader lesson is data governance: public AI is not a private scratchpad by default.</a:t>
            </a:r>
          </a:p>
          <a:p>
            <a:endParaRPr/>
          </a:p>
          <a:p>
            <a:r>
              <a:t>Sources:</a:t>
            </a:r>
          </a:p>
          <a:p>
            <a:r>
              <a:t>- CIO Dive, “Samsung employees leaked corporate data in ChatGPT: report” (2023-04-07) — https://www.ciodive.com/news/Samsung-Electronics-ChatGPT-leak-data-privacy/647137/</a:t>
            </a:r>
          </a:p>
          <a:p>
            <a:r>
              <a:t>- OpenAI Help Center, “How OpenAI handles data in consumer services” (2026-09-29) — https://help.openai.com/en/articles/7039943-how-openai-handles-data-in-consumer-services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PimEyes markets face search as a way to find images containing a given face across the web. This demonstrates the search-key risk, not guaranteed recovery of every person or guaranteed accuracy. Challenge students to think of non-face clues that could still link an avatar to a public profile.</a:t>
            </a:r>
          </a:p>
          <a:p>
            <a:endParaRPr/>
          </a:p>
          <a:p>
            <a:r>
              <a:t>Sources:</a:t>
            </a:r>
          </a:p>
          <a:p>
            <a:r>
              <a:t>- PimEyes, “Face Recognition Search Engine and Reverse Image Search” (2026-10-11) — https://pimeyes.com/en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students to vote on which myth is more common among their peers. Use Mullvad's own framing that hiding IP is not enough and that extra blocking attempts can ironically reveal identity, which reinforces the blending-in lesson rather than a vendor pitch. Connect back to slide 7 so students see the fingerprint concept applied to real product claims.</a:t>
            </a:r>
          </a:p>
          <a:p>
            <a:endParaRPr/>
          </a:p>
          <a:p>
            <a:r>
              <a:t>Sources:</a:t>
            </a:r>
          </a:p>
          <a:p>
            <a:r>
              <a:t>- Mullvad, “Free the internet with Mullvad Browser” (2026-10-11) — https://mullvad.net/en/browser</a:t>
            </a:r>
          </a:p>
          <a:p>
            <a:r>
              <a:t>- EFF, “Cover Your Tracks” (2026-10-11) — https://www.eff.org/pages/cover-your-tracks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contrasting tools and habits: no VPN, VM, or browser solves cross-context slips. Assign three take-home actions: 1) test your fingerprint at coveryourtracks.eff.org, 2) audit one persona overlap this week, 3) strip metadata before posting. Walk through each and invite one volunteer to say which they will try first, then open Q&amp;A.</a:t>
            </a:r>
          </a:p>
          <a:p>
            <a:endParaRPr/>
          </a:p>
          <a:p>
            <a:r>
              <a:t>Sources:</a:t>
            </a:r>
          </a:p>
          <a:p>
            <a:r>
              <a:t>- EFF, “Cover Your Tracks” (2026-10-11) — https://www.eff.org/pages/cover-your-tracks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ectangle 2"/>
          <p:cNvSpPr/>
          <p:nvPr/>
        </p:nvSpPr>
        <p:spPr>
          <a:xfrm>
            <a:off x="6537960" y="0"/>
            <a:ext cx="5653735" cy="6858000"/>
          </a:xfrm>
          <a:prstGeom prst="rect">
            <a:avLst/>
          </a:prstGeom>
          <a:solidFill>
            <a:srgbClr val="1E3A5F"/>
          </a:solidFill>
          <a:ln>
            <a:noFill/>
          </a:ln>
          <a:effectLst/>
        </p:spPr>
        <p:txBody>
          <a:bodyPr rtlCol="0" anchor="ctr"/>
          <a:lstStyle/>
          <a:p>
            <a:pPr algn="ctr"/>
            <a:endParaRPr/>
          </a:p>
        </p:txBody>
      </p:sp>
      <p:sp>
        <p:nvSpPr>
          <p:cNvPr id="4" name="Rectangle 3"/>
          <p:cNvSpPr/>
          <p:nvPr/>
        </p:nvSpPr>
        <p:spPr>
          <a:xfrm>
            <a:off x="6537960" y="0"/>
            <a:ext cx="109728" cy="6858000"/>
          </a:xfrm>
          <a:prstGeom prst="rect">
            <a:avLst/>
          </a:prstGeom>
          <a:solidFill>
            <a:srgbClr val="5EA0F2"/>
          </a:solidFill>
          <a:ln>
            <a:noFill/>
          </a:ln>
          <a:effectLst/>
        </p:spPr>
        <p:txBody>
          <a:bodyPr rtlCol="0" anchor="ctr"/>
          <a:lstStyle/>
          <a:p>
            <a:pPr algn="ctr"/>
            <a:endParaRPr/>
          </a:p>
        </p:txBody>
      </p:sp>
      <p:sp>
        <p:nvSpPr>
          <p:cNvPr id="5" name="TextBox 4"/>
          <p:cNvSpPr txBox="1"/>
          <p:nvPr/>
        </p:nvSpPr>
        <p:spPr>
          <a:xfrm>
            <a:off x="1875905" y="6263640"/>
            <a:ext cx="5212080" cy="199927"/>
          </a:xfrm>
          <a:prstGeom prst="rect">
            <a:avLst/>
          </a:prstGeom>
          <a:noFill/>
        </p:spPr>
        <p:txBody>
          <a:bodyPr wrap="square" lIns="0" tIns="0" rIns="0" bIns="0" anchor="t">
            <a:spAutoFit/>
          </a:bodyPr>
          <a:lstStyle/>
          <a:p>
            <a:pPr algn="l">
              <a:lnSpc>
                <a:spcPct val="115000"/>
              </a:lnSpc>
            </a:pPr>
            <a:r>
              <a:rPr sz="1200" b="1" dirty="0">
                <a:solidFill>
                  <a:srgbClr val="5EA0F2"/>
                </a:solidFill>
                <a:latin typeface="Vazirmatn"/>
                <a:ea typeface="Vazirmatn"/>
                <a:cs typeface="Vazirmatn"/>
              </a:rPr>
              <a:t>MOHAMMAD ABBASNEJAD </a:t>
            </a:r>
          </a:p>
        </p:txBody>
      </p:sp>
      <p:sp>
        <p:nvSpPr>
          <p:cNvPr id="6" name="TextBox 5"/>
          <p:cNvSpPr txBox="1"/>
          <p:nvPr/>
        </p:nvSpPr>
        <p:spPr>
          <a:xfrm>
            <a:off x="822960" y="1828800"/>
            <a:ext cx="5257800" cy="2057400"/>
          </a:xfrm>
          <a:prstGeom prst="rect">
            <a:avLst/>
          </a:prstGeom>
          <a:noFill/>
        </p:spPr>
        <p:txBody>
          <a:bodyPr wrap="square" lIns="0" tIns="0" rIns="0" bIns="0" anchor="t">
            <a:spAutoFit/>
          </a:bodyPr>
          <a:lstStyle/>
          <a:p>
            <a:pPr algn="l">
              <a:lnSpc>
                <a:spcPct val="108000"/>
              </a:lnSpc>
            </a:pPr>
            <a:r>
              <a:rPr sz="3900" b="1">
                <a:solidFill>
                  <a:srgbClr val="F2F5FA"/>
                </a:solidFill>
                <a:latin typeface="Vazirmatn"/>
                <a:ea typeface="Vazirmatn"/>
                <a:cs typeface="Vazirmatn"/>
              </a:rPr>
              <a:t>Digital Privacy, OPSEC &amp; AI-Era OSINT</a:t>
            </a:r>
          </a:p>
        </p:txBody>
      </p:sp>
      <p:sp>
        <p:nvSpPr>
          <p:cNvPr id="7" name="TextBox 6"/>
          <p:cNvSpPr txBox="1"/>
          <p:nvPr/>
        </p:nvSpPr>
        <p:spPr>
          <a:xfrm>
            <a:off x="822960" y="4160520"/>
            <a:ext cx="5074920" cy="294183"/>
          </a:xfrm>
          <a:prstGeom prst="rect">
            <a:avLst/>
          </a:prstGeom>
          <a:noFill/>
        </p:spPr>
        <p:txBody>
          <a:bodyPr wrap="square" lIns="0" tIns="0" rIns="0" bIns="0" anchor="t">
            <a:spAutoFit/>
          </a:bodyPr>
          <a:lstStyle/>
          <a:p>
            <a:pPr algn="l">
              <a:lnSpc>
                <a:spcPct val="130000"/>
              </a:lnSpc>
            </a:pPr>
            <a:r>
              <a:rPr sz="1600" b="0" dirty="0">
                <a:solidFill>
                  <a:srgbClr val="8A94A8"/>
                </a:solidFill>
                <a:latin typeface="Vazirmatn"/>
                <a:ea typeface="Vazirmatn"/>
                <a:cs typeface="Vazirmatn"/>
              </a:rPr>
              <a:t>A hands-on lecture for CS</a:t>
            </a:r>
            <a:r>
              <a:rPr lang="en-US" sz="1600" b="0" dirty="0">
                <a:solidFill>
                  <a:srgbClr val="8A94A8"/>
                </a:solidFill>
                <a:latin typeface="Vazirmatn"/>
                <a:ea typeface="Vazirmatn"/>
                <a:cs typeface="Vazirmatn"/>
              </a:rPr>
              <a:t>/CE</a:t>
            </a:r>
            <a:r>
              <a:rPr sz="1600" b="0" dirty="0">
                <a:solidFill>
                  <a:srgbClr val="8A94A8"/>
                </a:solidFill>
                <a:latin typeface="Vazirmatn"/>
                <a:ea typeface="Vazirmatn"/>
                <a:cs typeface="Vazirmatn"/>
              </a:rPr>
              <a:t> students</a:t>
            </a:r>
          </a:p>
        </p:txBody>
      </p:sp>
      <p:sp>
        <p:nvSpPr>
          <p:cNvPr id="8" name="TextBox 7"/>
          <p:cNvSpPr txBox="1"/>
          <p:nvPr/>
        </p:nvSpPr>
        <p:spPr>
          <a:xfrm>
            <a:off x="324196" y="6263640"/>
            <a:ext cx="1551709" cy="183255"/>
          </a:xfrm>
          <a:prstGeom prst="rect">
            <a:avLst/>
          </a:prstGeom>
          <a:noFill/>
        </p:spPr>
        <p:txBody>
          <a:bodyPr wrap="square" lIns="0" tIns="0" rIns="0" bIns="0" anchor="t">
            <a:spAutoFit/>
          </a:bodyPr>
          <a:lstStyle/>
          <a:p>
            <a:pPr algn="l">
              <a:lnSpc>
                <a:spcPct val="115000"/>
              </a:lnSpc>
            </a:pPr>
            <a:r>
              <a:rPr sz="1100" b="1" dirty="0">
                <a:solidFill>
                  <a:srgbClr val="8A94A8"/>
                </a:solidFill>
                <a:latin typeface="Vazirmatn"/>
                <a:ea typeface="Vazirmatn"/>
                <a:cs typeface="Vazirmatn"/>
              </a:rPr>
              <a:t>2026</a:t>
            </a:r>
          </a:p>
        </p:txBody>
      </p:sp>
      <p:pic>
        <p:nvPicPr>
          <p:cNvPr id="9" name="Picture 8">
            <a:extLst>
              <a:ext uri="{FF2B5EF4-FFF2-40B4-BE49-F238E27FC236}">
                <a16:creationId xmlns:a16="http://schemas.microsoft.com/office/drawing/2014/main" id="{31AE572F-B6AE-FEC5-1FA2-DD714956C541}"/>
              </a:ext>
            </a:extLst>
          </p:cNvPr>
          <p:cNvPicPr>
            <a:picLocks noChangeAspect="1"/>
          </p:cNvPicPr>
          <p:nvPr/>
        </p:nvPicPr>
        <p:blipFill>
          <a:blip r:embed="rId3"/>
          <a:stretch>
            <a:fillRect/>
          </a:stretch>
        </p:blipFill>
        <p:spPr>
          <a:xfrm>
            <a:off x="8419795" y="1959696"/>
            <a:ext cx="2667000" cy="981075"/>
          </a:xfrm>
          <a:prstGeom prst="rect">
            <a:avLst/>
          </a:prstGeom>
        </p:spPr>
      </p:pic>
      <p:sp>
        <p:nvSpPr>
          <p:cNvPr id="11" name="TextBox 10">
            <a:extLst>
              <a:ext uri="{FF2B5EF4-FFF2-40B4-BE49-F238E27FC236}">
                <a16:creationId xmlns:a16="http://schemas.microsoft.com/office/drawing/2014/main" id="{58E3CCA0-6BA7-6D77-92C1-CC2373984253}"/>
              </a:ext>
            </a:extLst>
          </p:cNvPr>
          <p:cNvSpPr txBox="1"/>
          <p:nvPr/>
        </p:nvSpPr>
        <p:spPr>
          <a:xfrm>
            <a:off x="8831580" y="3693340"/>
            <a:ext cx="1494675" cy="614271"/>
          </a:xfrm>
          <a:prstGeom prst="rect">
            <a:avLst/>
          </a:prstGeom>
          <a:noFill/>
        </p:spPr>
        <p:txBody>
          <a:bodyPr wrap="square" lIns="0" tIns="0" rIns="0" bIns="0" anchor="t">
            <a:spAutoFit/>
          </a:bodyPr>
          <a:lstStyle/>
          <a:p>
            <a:pPr algn="l">
              <a:lnSpc>
                <a:spcPct val="130000"/>
              </a:lnSpc>
            </a:pPr>
            <a:r>
              <a:rPr lang="fa-IR" sz="1600" b="1" dirty="0">
                <a:solidFill>
                  <a:schemeClr val="bg1">
                    <a:lumMod val="85000"/>
                  </a:schemeClr>
                </a:solidFill>
                <a:latin typeface="Vazirmatn"/>
                <a:ea typeface="Vazirmatn"/>
                <a:cs typeface="Vazirmatn"/>
              </a:rPr>
              <a:t>درس زبان تخصصی</a:t>
            </a:r>
          </a:p>
          <a:p>
            <a:pPr algn="l">
              <a:lnSpc>
                <a:spcPct val="130000"/>
              </a:lnSpc>
            </a:pPr>
            <a:r>
              <a:rPr lang="fa-IR" sz="1600" b="1" dirty="0">
                <a:solidFill>
                  <a:schemeClr val="bg1">
                    <a:lumMod val="85000"/>
                  </a:schemeClr>
                </a:solidFill>
                <a:latin typeface="Vazirmatn"/>
                <a:ea typeface="Vazirmatn"/>
                <a:cs typeface="Vazirmatn"/>
              </a:rPr>
              <a:t>استاد محمد صالح</a:t>
            </a:r>
            <a:endParaRPr sz="1600" b="1" dirty="0">
              <a:solidFill>
                <a:schemeClr val="bg1">
                  <a:lumMod val="85000"/>
                </a:schemeClr>
              </a:solidFill>
              <a:latin typeface="Vazirmatn"/>
              <a:ea typeface="Vazirmatn"/>
              <a:cs typeface="Vazirmat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2176272"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2176272" cy="283464"/>
          </a:xfrm>
          <a:prstGeom prst="rect">
            <a:avLst/>
          </a:prstGeom>
          <a:noFill/>
        </p:spPr>
        <p:txBody>
          <a:bodyPr wrap="square" lIns="0" tIns="0" rIns="0" bIns="0" anchor="ctr">
            <a:spAutoFit/>
          </a:bodyPr>
          <a:lstStyle/>
          <a:p>
            <a:pPr algn="ctr">
              <a:lnSpc>
                <a:spcPct val="115000"/>
              </a:lnSpc>
            </a:pPr>
            <a:r>
              <a:rPr sz="1050" b="1">
                <a:solidFill>
                  <a:srgbClr val="5EA0F2"/>
                </a:solidFill>
                <a:latin typeface="Vazirmatn"/>
                <a:ea typeface="Vazirmatn"/>
                <a:cs typeface="Vazirmatn"/>
              </a:rPr>
              <a:t>WHY SHOULD WE EVEN CARE?</a:t>
            </a:r>
          </a:p>
        </p:txBody>
      </p:sp>
      <p:sp>
        <p:nvSpPr>
          <p:cNvPr id="5" name="TextBox 4"/>
          <p:cNvSpPr txBox="1"/>
          <p:nvPr/>
        </p:nvSpPr>
        <p:spPr>
          <a:xfrm>
            <a:off x="822960" y="859536"/>
            <a:ext cx="10545775" cy="713232"/>
          </a:xfrm>
          <a:prstGeom prst="rect">
            <a:avLst/>
          </a:prstGeom>
          <a:noFill/>
        </p:spPr>
        <p:txBody>
          <a:bodyPr wrap="square" lIns="0" tIns="0" rIns="0" bIns="0" anchor="t">
            <a:spAutoFit/>
          </a:bodyPr>
          <a:lstStyle/>
          <a:p>
            <a:pPr algn="l">
              <a:lnSpc>
                <a:spcPct val="105000"/>
              </a:lnSpc>
            </a:pPr>
            <a:r>
              <a:rPr sz="2800" b="0">
                <a:solidFill>
                  <a:srgbClr val="F2F5FA"/>
                </a:solidFill>
                <a:latin typeface="Vazirmatn"/>
                <a:ea typeface="Vazirmatn"/>
                <a:cs typeface="Vazirmatn"/>
              </a:rPr>
              <a:t>Your Data Is Already a Product</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2</a:t>
            </a:r>
          </a:p>
        </p:txBody>
      </p:sp>
      <p:sp>
        <p:nvSpPr>
          <p:cNvPr id="8" name="Rounded Rectangle 7"/>
          <p:cNvSpPr/>
          <p:nvPr/>
        </p:nvSpPr>
        <p:spPr>
          <a:xfrm>
            <a:off x="822960" y="5907024"/>
            <a:ext cx="10545775" cy="566928"/>
          </a:xfrm>
          <a:prstGeom prst="roundRect">
            <a:avLst>
              <a:gd name="adj" fmla="val 12000"/>
            </a:avLst>
          </a:prstGeom>
          <a:solidFill>
            <a:srgbClr val="1E3A5F"/>
          </a:solidFill>
          <a:ln>
            <a:noFill/>
          </a:ln>
          <a:effectLst/>
        </p:spPr>
        <p:txBody>
          <a:bodyPr rtlCol="0" anchor="ctr"/>
          <a:lstStyle/>
          <a:p>
            <a:pPr algn="ctr"/>
            <a:endParaRPr/>
          </a:p>
        </p:txBody>
      </p:sp>
      <p:pic>
        <p:nvPicPr>
          <p:cNvPr id="9" name="Picture 8" descr="sticky_note_2_5EA0F2.png"/>
          <p:cNvPicPr>
            <a:picLocks noChangeAspect="1"/>
          </p:cNvPicPr>
          <p:nvPr/>
        </p:nvPicPr>
        <p:blipFill>
          <a:blip r:embed="rId3"/>
          <a:stretch>
            <a:fillRect/>
          </a:stretch>
        </p:blipFill>
        <p:spPr>
          <a:xfrm>
            <a:off x="1051560" y="6053328"/>
            <a:ext cx="274320" cy="274320"/>
          </a:xfrm>
          <a:prstGeom prst="rect">
            <a:avLst/>
          </a:prstGeom>
        </p:spPr>
      </p:pic>
      <p:sp>
        <p:nvSpPr>
          <p:cNvPr id="10" name="TextBox 9"/>
          <p:cNvSpPr txBox="1"/>
          <p:nvPr/>
        </p:nvSpPr>
        <p:spPr>
          <a:xfrm>
            <a:off x="1508760" y="5907024"/>
            <a:ext cx="9631375" cy="566928"/>
          </a:xfrm>
          <a:prstGeom prst="rect">
            <a:avLst/>
          </a:prstGeom>
          <a:noFill/>
        </p:spPr>
        <p:txBody>
          <a:bodyPr wrap="square" lIns="0" tIns="0" rIns="0" bIns="0" anchor="ctr">
            <a:spAutoFit/>
          </a:bodyPr>
          <a:lstStyle/>
          <a:p>
            <a:pPr algn="l">
              <a:lnSpc>
                <a:spcPct val="115000"/>
              </a:lnSpc>
            </a:pPr>
            <a:r>
              <a:rPr sz="1300" b="1" dirty="0">
                <a:solidFill>
                  <a:srgbClr val="F2F5FA"/>
                </a:solidFill>
                <a:latin typeface="Vazirmatn"/>
                <a:ea typeface="Vazirmatn"/>
                <a:cs typeface="Vazirmatn"/>
              </a:rPr>
              <a:t>A trail of ordinary pings can point to extraordinary parts of someone’s life.</a:t>
            </a:r>
          </a:p>
        </p:txBody>
      </p:sp>
      <p:sp>
        <p:nvSpPr>
          <p:cNvPr id="11" name="Rounded Rectangle 10"/>
          <p:cNvSpPr/>
          <p:nvPr/>
        </p:nvSpPr>
        <p:spPr>
          <a:xfrm>
            <a:off x="822960" y="2066544"/>
            <a:ext cx="3794760" cy="3657600"/>
          </a:xfrm>
          <a:prstGeom prst="roundRect">
            <a:avLst>
              <a:gd name="adj" fmla="val 10000"/>
            </a:avLst>
          </a:prstGeom>
          <a:solidFill>
            <a:srgbClr val="9FB4D8"/>
          </a:solidFill>
          <a:ln>
            <a:noFill/>
          </a:ln>
          <a:effectLst/>
        </p:spPr>
        <p:txBody>
          <a:bodyPr rtlCol="0" anchor="ctr"/>
          <a:lstStyle/>
          <a:p>
            <a:pPr algn="ctr"/>
            <a:endParaRPr/>
          </a:p>
        </p:txBody>
      </p:sp>
      <p:sp>
        <p:nvSpPr>
          <p:cNvPr id="12" name="TextBox 11"/>
          <p:cNvSpPr txBox="1"/>
          <p:nvPr/>
        </p:nvSpPr>
        <p:spPr>
          <a:xfrm>
            <a:off x="1207008" y="2542032"/>
            <a:ext cx="3026664" cy="914400"/>
          </a:xfrm>
          <a:prstGeom prst="rect">
            <a:avLst/>
          </a:prstGeom>
          <a:noFill/>
        </p:spPr>
        <p:txBody>
          <a:bodyPr wrap="square" lIns="0" tIns="0" rIns="0" bIns="0" anchor="t">
            <a:spAutoFit/>
          </a:bodyPr>
          <a:lstStyle/>
          <a:p>
            <a:pPr algn="l">
              <a:lnSpc>
                <a:spcPct val="105000"/>
              </a:lnSpc>
            </a:pPr>
            <a:r>
              <a:rPr sz="3800" b="1">
                <a:solidFill>
                  <a:srgbClr val="10141F"/>
                </a:solidFill>
                <a:latin typeface="Vazirmatn"/>
                <a:ea typeface="Vazirmatn"/>
                <a:cs typeface="Vazirmatn"/>
              </a:rPr>
              <a:t>~17B</a:t>
            </a:r>
          </a:p>
        </p:txBody>
      </p:sp>
      <p:sp>
        <p:nvSpPr>
          <p:cNvPr id="13" name="TextBox 12"/>
          <p:cNvSpPr txBox="1"/>
          <p:nvPr/>
        </p:nvSpPr>
        <p:spPr>
          <a:xfrm>
            <a:off x="1207008" y="3566160"/>
            <a:ext cx="3026664" cy="658368"/>
          </a:xfrm>
          <a:prstGeom prst="rect">
            <a:avLst/>
          </a:prstGeom>
          <a:noFill/>
        </p:spPr>
        <p:txBody>
          <a:bodyPr wrap="square" lIns="0" tIns="0" rIns="0" bIns="0" anchor="t">
            <a:spAutoFit/>
          </a:bodyPr>
          <a:lstStyle/>
          <a:p>
            <a:pPr algn="l">
              <a:lnSpc>
                <a:spcPct val="115000"/>
              </a:lnSpc>
            </a:pPr>
            <a:r>
              <a:rPr sz="1900" b="1">
                <a:solidFill>
                  <a:srgbClr val="10141F"/>
                </a:solidFill>
                <a:latin typeface="Vazirmatn"/>
                <a:ea typeface="Vazirmatn"/>
                <a:cs typeface="Vazirmatn"/>
              </a:rPr>
              <a:t>location signals per day</a:t>
            </a:r>
          </a:p>
        </p:txBody>
      </p:sp>
      <p:sp>
        <p:nvSpPr>
          <p:cNvPr id="14" name="TextBox 13"/>
          <p:cNvSpPr txBox="1"/>
          <p:nvPr/>
        </p:nvSpPr>
        <p:spPr>
          <a:xfrm>
            <a:off x="1207008" y="4315968"/>
            <a:ext cx="3026664" cy="1078992"/>
          </a:xfrm>
          <a:prstGeom prst="rect">
            <a:avLst/>
          </a:prstGeom>
          <a:noFill/>
        </p:spPr>
        <p:txBody>
          <a:bodyPr wrap="square" lIns="0" tIns="0" rIns="0" bIns="0" anchor="t">
            <a:spAutoFit/>
          </a:bodyPr>
          <a:lstStyle/>
          <a:p>
            <a:pPr algn="l">
              <a:lnSpc>
                <a:spcPct val="135000"/>
              </a:lnSpc>
            </a:pPr>
            <a:r>
              <a:rPr sz="1300" b="0" dirty="0">
                <a:solidFill>
                  <a:srgbClr val="10141F"/>
                </a:solidFill>
                <a:latin typeface="Vazirmatn"/>
                <a:ea typeface="Vazirmatn"/>
                <a:cs typeface="Vazirmatn"/>
              </a:rPr>
              <a:t>Gravy Analytics claimed to curate signals from about 1B mobile devices. FTC allegations say the data could reveal sensitive visits.</a:t>
            </a:r>
          </a:p>
        </p:txBody>
      </p:sp>
      <p:sp>
        <p:nvSpPr>
          <p:cNvPr id="15" name="TextBox 14"/>
          <p:cNvSpPr txBox="1"/>
          <p:nvPr/>
        </p:nvSpPr>
        <p:spPr>
          <a:xfrm>
            <a:off x="5276088" y="2066544"/>
            <a:ext cx="566928" cy="1219200"/>
          </a:xfrm>
          <a:prstGeom prst="rect">
            <a:avLst/>
          </a:prstGeom>
          <a:noFill/>
        </p:spPr>
        <p:txBody>
          <a:bodyPr wrap="square" lIns="0" tIns="0" rIns="0" bIns="0" anchor="ctr">
            <a:spAutoFit/>
          </a:bodyPr>
          <a:lstStyle/>
          <a:p>
            <a:pPr algn="l">
              <a:lnSpc>
                <a:spcPct val="115000"/>
              </a:lnSpc>
            </a:pPr>
            <a:r>
              <a:rPr sz="1600" b="1">
                <a:solidFill>
                  <a:srgbClr val="5EA0F2"/>
                </a:solidFill>
                <a:latin typeface="Vazirmatn"/>
                <a:ea typeface="Vazirmatn"/>
                <a:cs typeface="Vazirmatn"/>
              </a:rPr>
              <a:t>01</a:t>
            </a:r>
          </a:p>
        </p:txBody>
      </p:sp>
      <p:sp>
        <p:nvSpPr>
          <p:cNvPr id="16" name="TextBox 15"/>
          <p:cNvSpPr txBox="1"/>
          <p:nvPr/>
        </p:nvSpPr>
        <p:spPr>
          <a:xfrm>
            <a:off x="5989320" y="2286000"/>
            <a:ext cx="5379415" cy="365760"/>
          </a:xfrm>
          <a:prstGeom prst="rect">
            <a:avLst/>
          </a:prstGeom>
          <a:noFill/>
        </p:spPr>
        <p:txBody>
          <a:bodyPr wrap="square" lIns="0" tIns="0" rIns="0" bIns="0" anchor="t">
            <a:spAutoFit/>
          </a:bodyPr>
          <a:lstStyle/>
          <a:p>
            <a:pPr algn="l">
              <a:lnSpc>
                <a:spcPct val="115000"/>
              </a:lnSpc>
            </a:pPr>
            <a:r>
              <a:rPr sz="1500" b="1">
                <a:solidFill>
                  <a:srgbClr val="F2F5FA"/>
                </a:solidFill>
                <a:latin typeface="Vazirmatn"/>
                <a:ea typeface="Vazirmatn"/>
                <a:cs typeface="Vazirmatn"/>
              </a:rPr>
              <a:t>Quick room check</a:t>
            </a:r>
          </a:p>
        </p:txBody>
      </p:sp>
      <p:sp>
        <p:nvSpPr>
          <p:cNvPr id="17" name="TextBox 16"/>
          <p:cNvSpPr txBox="1"/>
          <p:nvPr/>
        </p:nvSpPr>
        <p:spPr>
          <a:xfrm>
            <a:off x="5989320" y="2700528"/>
            <a:ext cx="5379415" cy="414528"/>
          </a:xfrm>
          <a:prstGeom prst="rect">
            <a:avLst/>
          </a:prstGeom>
          <a:noFill/>
        </p:spPr>
        <p:txBody>
          <a:bodyPr wrap="square" lIns="0" tIns="0" rIns="0" bIns="0" anchor="t">
            <a:spAutoFit/>
          </a:bodyPr>
          <a:lstStyle/>
          <a:p>
            <a:pPr algn="l">
              <a:lnSpc>
                <a:spcPct val="115000"/>
              </a:lnSpc>
            </a:pPr>
            <a:r>
              <a:rPr sz="1200" b="0">
                <a:solidFill>
                  <a:srgbClr val="8A94A8"/>
                </a:solidFill>
                <a:latin typeface="Vazirmatn"/>
                <a:ea typeface="Vazirmatn"/>
                <a:cs typeface="Vazirmatn"/>
              </a:rPr>
              <a:t>Raise your hand if you used Incognito mode this week.</a:t>
            </a:r>
          </a:p>
        </p:txBody>
      </p:sp>
      <p:sp>
        <p:nvSpPr>
          <p:cNvPr id="18" name="Rectangle 17"/>
          <p:cNvSpPr/>
          <p:nvPr/>
        </p:nvSpPr>
        <p:spPr>
          <a:xfrm>
            <a:off x="5989320" y="3285744"/>
            <a:ext cx="5379415" cy="9525"/>
          </a:xfrm>
          <a:prstGeom prst="rect">
            <a:avLst/>
          </a:prstGeom>
          <a:solidFill>
            <a:srgbClr val="2A3348"/>
          </a:solidFill>
          <a:ln>
            <a:noFill/>
          </a:ln>
          <a:effectLst/>
        </p:spPr>
        <p:txBody>
          <a:bodyPr rtlCol="0" anchor="ctr"/>
          <a:lstStyle/>
          <a:p>
            <a:pPr algn="ctr"/>
            <a:endParaRPr/>
          </a:p>
        </p:txBody>
      </p:sp>
      <p:sp>
        <p:nvSpPr>
          <p:cNvPr id="19" name="TextBox 18"/>
          <p:cNvSpPr txBox="1"/>
          <p:nvPr/>
        </p:nvSpPr>
        <p:spPr>
          <a:xfrm>
            <a:off x="5276088" y="3285744"/>
            <a:ext cx="566928" cy="1219200"/>
          </a:xfrm>
          <a:prstGeom prst="rect">
            <a:avLst/>
          </a:prstGeom>
          <a:noFill/>
        </p:spPr>
        <p:txBody>
          <a:bodyPr wrap="square" lIns="0" tIns="0" rIns="0" bIns="0" anchor="ctr">
            <a:spAutoFit/>
          </a:bodyPr>
          <a:lstStyle/>
          <a:p>
            <a:pPr algn="l">
              <a:lnSpc>
                <a:spcPct val="115000"/>
              </a:lnSpc>
            </a:pPr>
            <a:r>
              <a:rPr sz="1600" b="1">
                <a:solidFill>
                  <a:srgbClr val="5EA0F2"/>
                </a:solidFill>
                <a:latin typeface="Vazirmatn"/>
                <a:ea typeface="Vazirmatn"/>
                <a:cs typeface="Vazirmatn"/>
              </a:rPr>
              <a:t>02</a:t>
            </a:r>
          </a:p>
        </p:txBody>
      </p:sp>
      <p:sp>
        <p:nvSpPr>
          <p:cNvPr id="20" name="TextBox 19"/>
          <p:cNvSpPr txBox="1"/>
          <p:nvPr/>
        </p:nvSpPr>
        <p:spPr>
          <a:xfrm>
            <a:off x="5989320" y="3505200"/>
            <a:ext cx="5379415" cy="365760"/>
          </a:xfrm>
          <a:prstGeom prst="rect">
            <a:avLst/>
          </a:prstGeom>
          <a:noFill/>
        </p:spPr>
        <p:txBody>
          <a:bodyPr wrap="square" lIns="0" tIns="0" rIns="0" bIns="0" anchor="t">
            <a:spAutoFit/>
          </a:bodyPr>
          <a:lstStyle/>
          <a:p>
            <a:pPr algn="l">
              <a:lnSpc>
                <a:spcPct val="115000"/>
              </a:lnSpc>
            </a:pPr>
            <a:r>
              <a:rPr sz="1500" b="1">
                <a:solidFill>
                  <a:srgbClr val="F2F5FA"/>
                </a:solidFill>
                <a:latin typeface="Vazirmatn"/>
                <a:ea typeface="Vazirmatn"/>
                <a:cs typeface="Vazirmatn"/>
              </a:rPr>
              <a:t>Reality check</a:t>
            </a:r>
          </a:p>
        </p:txBody>
      </p:sp>
      <p:sp>
        <p:nvSpPr>
          <p:cNvPr id="21" name="TextBox 20"/>
          <p:cNvSpPr txBox="1"/>
          <p:nvPr/>
        </p:nvSpPr>
        <p:spPr>
          <a:xfrm>
            <a:off x="5989320" y="3919728"/>
            <a:ext cx="5379415" cy="414528"/>
          </a:xfrm>
          <a:prstGeom prst="rect">
            <a:avLst/>
          </a:prstGeom>
          <a:noFill/>
        </p:spPr>
        <p:txBody>
          <a:bodyPr wrap="square" lIns="0" tIns="0" rIns="0" bIns="0" anchor="t">
            <a:spAutoFit/>
          </a:bodyPr>
          <a:lstStyle/>
          <a:p>
            <a:pPr algn="l">
              <a:lnSpc>
                <a:spcPct val="115000"/>
              </a:lnSpc>
            </a:pPr>
            <a:r>
              <a:rPr sz="1200" b="0">
                <a:solidFill>
                  <a:srgbClr val="8A94A8"/>
                </a:solidFill>
                <a:latin typeface="Vazirmatn"/>
                <a:ea typeface="Vazirmatn"/>
                <a:cs typeface="Vazirmatn"/>
              </a:rPr>
              <a:t>Incognito hides local browsing history—not your activity from the site, ISP, or trackers.</a:t>
            </a:r>
          </a:p>
        </p:txBody>
      </p:sp>
      <p:sp>
        <p:nvSpPr>
          <p:cNvPr id="22" name="Rectangle 21"/>
          <p:cNvSpPr/>
          <p:nvPr/>
        </p:nvSpPr>
        <p:spPr>
          <a:xfrm>
            <a:off x="5989320" y="4504944"/>
            <a:ext cx="5379415" cy="9525"/>
          </a:xfrm>
          <a:prstGeom prst="rect">
            <a:avLst/>
          </a:prstGeom>
          <a:solidFill>
            <a:srgbClr val="2A3348"/>
          </a:solidFill>
          <a:ln>
            <a:noFill/>
          </a:ln>
          <a:effectLst/>
        </p:spPr>
        <p:txBody>
          <a:bodyPr rtlCol="0" anchor="ctr"/>
          <a:lstStyle/>
          <a:p>
            <a:pPr algn="ctr"/>
            <a:endParaRPr/>
          </a:p>
        </p:txBody>
      </p:sp>
      <p:sp>
        <p:nvSpPr>
          <p:cNvPr id="23" name="TextBox 22"/>
          <p:cNvSpPr txBox="1"/>
          <p:nvPr/>
        </p:nvSpPr>
        <p:spPr>
          <a:xfrm>
            <a:off x="5276088" y="4504944"/>
            <a:ext cx="566928" cy="1219200"/>
          </a:xfrm>
          <a:prstGeom prst="rect">
            <a:avLst/>
          </a:prstGeom>
          <a:noFill/>
        </p:spPr>
        <p:txBody>
          <a:bodyPr wrap="square" lIns="0" tIns="0" rIns="0" bIns="0" anchor="ctr">
            <a:spAutoFit/>
          </a:bodyPr>
          <a:lstStyle/>
          <a:p>
            <a:pPr algn="l">
              <a:lnSpc>
                <a:spcPct val="115000"/>
              </a:lnSpc>
            </a:pPr>
            <a:r>
              <a:rPr sz="1600" b="1">
                <a:solidFill>
                  <a:srgbClr val="5EA0F2"/>
                </a:solidFill>
                <a:latin typeface="Vazirmatn"/>
                <a:ea typeface="Vazirmatn"/>
                <a:cs typeface="Vazirmatn"/>
              </a:rPr>
              <a:t>03</a:t>
            </a:r>
          </a:p>
        </p:txBody>
      </p:sp>
      <p:sp>
        <p:nvSpPr>
          <p:cNvPr id="24" name="TextBox 23"/>
          <p:cNvSpPr txBox="1"/>
          <p:nvPr/>
        </p:nvSpPr>
        <p:spPr>
          <a:xfrm>
            <a:off x="5989320" y="4724400"/>
            <a:ext cx="5379415" cy="365760"/>
          </a:xfrm>
          <a:prstGeom prst="rect">
            <a:avLst/>
          </a:prstGeom>
          <a:noFill/>
        </p:spPr>
        <p:txBody>
          <a:bodyPr wrap="square" lIns="0" tIns="0" rIns="0" bIns="0" anchor="t">
            <a:spAutoFit/>
          </a:bodyPr>
          <a:lstStyle/>
          <a:p>
            <a:pPr algn="l">
              <a:lnSpc>
                <a:spcPct val="115000"/>
              </a:lnSpc>
            </a:pPr>
            <a:r>
              <a:rPr sz="1500" b="1">
                <a:solidFill>
                  <a:srgbClr val="F2F5FA"/>
                </a:solidFill>
                <a:latin typeface="Vazirmatn"/>
                <a:ea typeface="Vazirmatn"/>
                <a:cs typeface="Vazirmatn"/>
              </a:rPr>
              <a:t>Ask the room</a:t>
            </a:r>
          </a:p>
        </p:txBody>
      </p:sp>
      <p:sp>
        <p:nvSpPr>
          <p:cNvPr id="25" name="TextBox 24"/>
          <p:cNvSpPr txBox="1"/>
          <p:nvPr/>
        </p:nvSpPr>
        <p:spPr>
          <a:xfrm>
            <a:off x="5989320" y="5138928"/>
            <a:ext cx="5379415" cy="414528"/>
          </a:xfrm>
          <a:prstGeom prst="rect">
            <a:avLst/>
          </a:prstGeom>
          <a:noFill/>
        </p:spPr>
        <p:txBody>
          <a:bodyPr wrap="square" lIns="0" tIns="0" rIns="0" bIns="0" anchor="t">
            <a:spAutoFit/>
          </a:bodyPr>
          <a:lstStyle/>
          <a:p>
            <a:pPr algn="l">
              <a:lnSpc>
                <a:spcPct val="115000"/>
              </a:lnSpc>
            </a:pPr>
            <a:r>
              <a:rPr sz="1200" b="0">
                <a:solidFill>
                  <a:srgbClr val="8A94A8"/>
                </a:solidFill>
                <a:latin typeface="Vazirmatn"/>
                <a:ea typeface="Vazirmatn"/>
                <a:cs typeface="Vazirmatn"/>
              </a:rPr>
              <a:t>What could a location trail reveal about a person’s routines?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2176272"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2176272" cy="283464"/>
          </a:xfrm>
          <a:prstGeom prst="rect">
            <a:avLst/>
          </a:prstGeom>
          <a:noFill/>
        </p:spPr>
        <p:txBody>
          <a:bodyPr wrap="square" lIns="0" tIns="0" rIns="0" bIns="0" anchor="ctr">
            <a:spAutoFit/>
          </a:bodyPr>
          <a:lstStyle/>
          <a:p>
            <a:pPr algn="ctr">
              <a:lnSpc>
                <a:spcPct val="115000"/>
              </a:lnSpc>
            </a:pPr>
            <a:r>
              <a:rPr sz="1050" b="1">
                <a:solidFill>
                  <a:srgbClr val="5EA0F2"/>
                </a:solidFill>
                <a:latin typeface="Vazirmatn"/>
                <a:ea typeface="Vazirmatn"/>
                <a:cs typeface="Vazirmatn"/>
              </a:rPr>
              <a:t>WHY SHOULD WE EVEN CARE?</a:t>
            </a:r>
          </a:p>
        </p:txBody>
      </p:sp>
      <p:sp>
        <p:nvSpPr>
          <p:cNvPr id="5" name="TextBox 4"/>
          <p:cNvSpPr txBox="1"/>
          <p:nvPr/>
        </p:nvSpPr>
        <p:spPr>
          <a:xfrm>
            <a:off x="822960" y="859536"/>
            <a:ext cx="10545775" cy="713232"/>
          </a:xfrm>
          <a:prstGeom prst="rect">
            <a:avLst/>
          </a:prstGeom>
          <a:noFill/>
        </p:spPr>
        <p:txBody>
          <a:bodyPr wrap="square" lIns="0" tIns="0" rIns="0" bIns="0" anchor="t">
            <a:spAutoFit/>
          </a:bodyPr>
          <a:lstStyle/>
          <a:p>
            <a:pPr algn="l">
              <a:lnSpc>
                <a:spcPct val="105000"/>
              </a:lnSpc>
            </a:pPr>
            <a:r>
              <a:rPr sz="2800" b="0">
                <a:solidFill>
                  <a:srgbClr val="F2F5FA"/>
                </a:solidFill>
                <a:latin typeface="Vazirmatn"/>
                <a:ea typeface="Vazirmatn"/>
                <a:cs typeface="Vazirmatn"/>
              </a:rPr>
              <a:t>Five Ways Leaked Data Becomes Real Harm</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3</a:t>
            </a:r>
          </a:p>
        </p:txBody>
      </p:sp>
      <p:pic>
        <p:nvPicPr>
          <p:cNvPr id="8" name="Picture 7" descr="security_5EA0F2.png"/>
          <p:cNvPicPr>
            <a:picLocks noChangeAspect="1"/>
          </p:cNvPicPr>
          <p:nvPr/>
        </p:nvPicPr>
        <p:blipFill>
          <a:blip r:embed="rId3"/>
          <a:stretch>
            <a:fillRect/>
          </a:stretch>
        </p:blipFill>
        <p:spPr>
          <a:xfrm>
            <a:off x="822960" y="2107692"/>
            <a:ext cx="502920" cy="502920"/>
          </a:xfrm>
          <a:prstGeom prst="rect">
            <a:avLst/>
          </a:prstGeom>
        </p:spPr>
      </p:pic>
      <p:sp>
        <p:nvSpPr>
          <p:cNvPr id="9" name="TextBox 8"/>
          <p:cNvSpPr txBox="1"/>
          <p:nvPr/>
        </p:nvSpPr>
        <p:spPr>
          <a:xfrm>
            <a:off x="1581912" y="2107692"/>
            <a:ext cx="2390546" cy="384048"/>
          </a:xfrm>
          <a:prstGeom prst="rect">
            <a:avLst/>
          </a:prstGeom>
          <a:noFill/>
        </p:spPr>
        <p:txBody>
          <a:bodyPr wrap="square" lIns="0" tIns="0" rIns="0" bIns="0" anchor="t">
            <a:spAutoFit/>
          </a:bodyPr>
          <a:lstStyle/>
          <a:p>
            <a:pPr algn="l">
              <a:lnSpc>
                <a:spcPct val="115000"/>
              </a:lnSpc>
            </a:pPr>
            <a:r>
              <a:rPr sz="1550" b="1">
                <a:solidFill>
                  <a:srgbClr val="F2F5FA"/>
                </a:solidFill>
                <a:latin typeface="Vazirmatn"/>
                <a:ea typeface="Vazirmatn"/>
                <a:cs typeface="Vazirmatn"/>
              </a:rPr>
              <a:t>Identity theft</a:t>
            </a:r>
          </a:p>
        </p:txBody>
      </p:sp>
      <p:sp>
        <p:nvSpPr>
          <p:cNvPr id="10" name="TextBox 9"/>
          <p:cNvSpPr txBox="1"/>
          <p:nvPr/>
        </p:nvSpPr>
        <p:spPr>
          <a:xfrm>
            <a:off x="1581912" y="2546604"/>
            <a:ext cx="2390546" cy="1554480"/>
          </a:xfrm>
          <a:prstGeom prst="rect">
            <a:avLst/>
          </a:prstGeom>
          <a:noFill/>
        </p:spPr>
        <p:txBody>
          <a:bodyPr wrap="square" lIns="0" tIns="0" rIns="0" bIns="0" anchor="t">
            <a:spAutoFit/>
          </a:bodyPr>
          <a:lstStyle/>
          <a:p>
            <a:pPr algn="l">
              <a:lnSpc>
                <a:spcPct val="125000"/>
              </a:lnSpc>
            </a:pPr>
            <a:r>
              <a:rPr sz="1200" b="0">
                <a:solidFill>
                  <a:srgbClr val="8A94A8"/>
                </a:solidFill>
                <a:latin typeface="Vazirmatn"/>
                <a:ea typeface="Vazirmatn"/>
                <a:cs typeface="Vazirmatn"/>
              </a:rPr>
              <a:t>Leaked identifiers can aid account recovery abuse.</a:t>
            </a:r>
          </a:p>
        </p:txBody>
      </p:sp>
      <p:pic>
        <p:nvPicPr>
          <p:cNvPr id="11" name="Picture 10" descr="layers_5EA0F2.png"/>
          <p:cNvPicPr>
            <a:picLocks noChangeAspect="1"/>
          </p:cNvPicPr>
          <p:nvPr/>
        </p:nvPicPr>
        <p:blipFill>
          <a:blip r:embed="rId4"/>
          <a:stretch>
            <a:fillRect/>
          </a:stretch>
        </p:blipFill>
        <p:spPr>
          <a:xfrm>
            <a:off x="4521098" y="2107692"/>
            <a:ext cx="502920" cy="502920"/>
          </a:xfrm>
          <a:prstGeom prst="rect">
            <a:avLst/>
          </a:prstGeom>
        </p:spPr>
      </p:pic>
      <p:sp>
        <p:nvSpPr>
          <p:cNvPr id="12" name="TextBox 11"/>
          <p:cNvSpPr txBox="1"/>
          <p:nvPr/>
        </p:nvSpPr>
        <p:spPr>
          <a:xfrm>
            <a:off x="5280050" y="2107692"/>
            <a:ext cx="2390546" cy="384048"/>
          </a:xfrm>
          <a:prstGeom prst="rect">
            <a:avLst/>
          </a:prstGeom>
          <a:noFill/>
        </p:spPr>
        <p:txBody>
          <a:bodyPr wrap="square" lIns="0" tIns="0" rIns="0" bIns="0" anchor="t">
            <a:spAutoFit/>
          </a:bodyPr>
          <a:lstStyle/>
          <a:p>
            <a:pPr algn="l">
              <a:lnSpc>
                <a:spcPct val="115000"/>
              </a:lnSpc>
            </a:pPr>
            <a:r>
              <a:rPr sz="1550" b="1">
                <a:solidFill>
                  <a:srgbClr val="F2F5FA"/>
                </a:solidFill>
                <a:latin typeface="Vazirmatn"/>
                <a:ea typeface="Vazirmatn"/>
                <a:cs typeface="Vazirmatn"/>
              </a:rPr>
              <a:t>Data brokers</a:t>
            </a:r>
          </a:p>
        </p:txBody>
      </p:sp>
      <p:sp>
        <p:nvSpPr>
          <p:cNvPr id="13" name="TextBox 12"/>
          <p:cNvSpPr txBox="1"/>
          <p:nvPr/>
        </p:nvSpPr>
        <p:spPr>
          <a:xfrm>
            <a:off x="5280050" y="2546604"/>
            <a:ext cx="2390546" cy="1554480"/>
          </a:xfrm>
          <a:prstGeom prst="rect">
            <a:avLst/>
          </a:prstGeom>
          <a:noFill/>
        </p:spPr>
        <p:txBody>
          <a:bodyPr wrap="square" lIns="0" tIns="0" rIns="0" bIns="0" anchor="t">
            <a:spAutoFit/>
          </a:bodyPr>
          <a:lstStyle/>
          <a:p>
            <a:pPr algn="l">
              <a:lnSpc>
                <a:spcPct val="125000"/>
              </a:lnSpc>
            </a:pPr>
            <a:r>
              <a:rPr sz="1200" b="0">
                <a:solidFill>
                  <a:srgbClr val="8A94A8"/>
                </a:solidFill>
                <a:latin typeface="Vazirmatn"/>
                <a:ea typeface="Vazirmatn"/>
                <a:cs typeface="Vazirmatn"/>
              </a:rPr>
              <a:t>Small clues combine into detailed profiles.</a:t>
            </a:r>
          </a:p>
        </p:txBody>
      </p:sp>
      <p:pic>
        <p:nvPicPr>
          <p:cNvPr id="14" name="Picture 13" descr="chat_bubble_5EA0F2.png"/>
          <p:cNvPicPr>
            <a:picLocks noChangeAspect="1"/>
          </p:cNvPicPr>
          <p:nvPr/>
        </p:nvPicPr>
        <p:blipFill>
          <a:blip r:embed="rId5"/>
          <a:stretch>
            <a:fillRect/>
          </a:stretch>
        </p:blipFill>
        <p:spPr>
          <a:xfrm>
            <a:off x="8219236" y="2107692"/>
            <a:ext cx="502920" cy="502920"/>
          </a:xfrm>
          <a:prstGeom prst="rect">
            <a:avLst/>
          </a:prstGeom>
        </p:spPr>
      </p:pic>
      <p:sp>
        <p:nvSpPr>
          <p:cNvPr id="15" name="TextBox 14"/>
          <p:cNvSpPr txBox="1"/>
          <p:nvPr/>
        </p:nvSpPr>
        <p:spPr>
          <a:xfrm>
            <a:off x="8978188" y="2107692"/>
            <a:ext cx="2390546" cy="384048"/>
          </a:xfrm>
          <a:prstGeom prst="rect">
            <a:avLst/>
          </a:prstGeom>
          <a:noFill/>
        </p:spPr>
        <p:txBody>
          <a:bodyPr wrap="square" lIns="0" tIns="0" rIns="0" bIns="0" anchor="t">
            <a:spAutoFit/>
          </a:bodyPr>
          <a:lstStyle/>
          <a:p>
            <a:pPr algn="l">
              <a:lnSpc>
                <a:spcPct val="115000"/>
              </a:lnSpc>
            </a:pPr>
            <a:r>
              <a:rPr sz="1550" b="1">
                <a:solidFill>
                  <a:srgbClr val="F2F5FA"/>
                </a:solidFill>
                <a:latin typeface="Vazirmatn"/>
                <a:ea typeface="Vazirmatn"/>
                <a:cs typeface="Vazirmatn"/>
              </a:rPr>
              <a:t>Social engineering</a:t>
            </a:r>
          </a:p>
        </p:txBody>
      </p:sp>
      <p:sp>
        <p:nvSpPr>
          <p:cNvPr id="16" name="TextBox 15"/>
          <p:cNvSpPr txBox="1"/>
          <p:nvPr/>
        </p:nvSpPr>
        <p:spPr>
          <a:xfrm>
            <a:off x="8978188" y="2546604"/>
            <a:ext cx="2390546" cy="1554480"/>
          </a:xfrm>
          <a:prstGeom prst="rect">
            <a:avLst/>
          </a:prstGeom>
          <a:noFill/>
        </p:spPr>
        <p:txBody>
          <a:bodyPr wrap="square" lIns="0" tIns="0" rIns="0" bIns="0" anchor="t">
            <a:spAutoFit/>
          </a:bodyPr>
          <a:lstStyle/>
          <a:p>
            <a:pPr algn="l">
              <a:lnSpc>
                <a:spcPct val="125000"/>
              </a:lnSpc>
            </a:pPr>
            <a:r>
              <a:rPr sz="1200" b="0">
                <a:solidFill>
                  <a:srgbClr val="8A94A8"/>
                </a:solidFill>
                <a:latin typeface="Vazirmatn"/>
                <a:ea typeface="Vazirmatn"/>
                <a:cs typeface="Vazirmatn"/>
              </a:rPr>
              <a:t>Personal details make scams more convincing.</a:t>
            </a:r>
          </a:p>
        </p:txBody>
      </p:sp>
      <p:pic>
        <p:nvPicPr>
          <p:cNvPr id="17" name="Picture 16" descr="visibility_5EA0F2.png"/>
          <p:cNvPicPr>
            <a:picLocks noChangeAspect="1"/>
          </p:cNvPicPr>
          <p:nvPr/>
        </p:nvPicPr>
        <p:blipFill>
          <a:blip r:embed="rId6"/>
          <a:stretch>
            <a:fillRect/>
          </a:stretch>
        </p:blipFill>
        <p:spPr>
          <a:xfrm>
            <a:off x="822960" y="4210812"/>
            <a:ext cx="502920" cy="502920"/>
          </a:xfrm>
          <a:prstGeom prst="rect">
            <a:avLst/>
          </a:prstGeom>
        </p:spPr>
      </p:pic>
      <p:sp>
        <p:nvSpPr>
          <p:cNvPr id="18" name="TextBox 17"/>
          <p:cNvSpPr txBox="1"/>
          <p:nvPr/>
        </p:nvSpPr>
        <p:spPr>
          <a:xfrm>
            <a:off x="1581912" y="4210812"/>
            <a:ext cx="2390546" cy="384048"/>
          </a:xfrm>
          <a:prstGeom prst="rect">
            <a:avLst/>
          </a:prstGeom>
          <a:noFill/>
        </p:spPr>
        <p:txBody>
          <a:bodyPr wrap="square" lIns="0" tIns="0" rIns="0" bIns="0" anchor="t">
            <a:spAutoFit/>
          </a:bodyPr>
          <a:lstStyle/>
          <a:p>
            <a:pPr algn="l">
              <a:lnSpc>
                <a:spcPct val="115000"/>
              </a:lnSpc>
            </a:pPr>
            <a:r>
              <a:rPr sz="1550" b="1">
                <a:solidFill>
                  <a:srgbClr val="F2F5FA"/>
                </a:solidFill>
                <a:latin typeface="Vazirmatn"/>
                <a:ea typeface="Vazirmatn"/>
                <a:cs typeface="Vazirmatn"/>
              </a:rPr>
              <a:t>Profiling</a:t>
            </a:r>
          </a:p>
        </p:txBody>
      </p:sp>
      <p:sp>
        <p:nvSpPr>
          <p:cNvPr id="19" name="TextBox 18"/>
          <p:cNvSpPr txBox="1"/>
          <p:nvPr/>
        </p:nvSpPr>
        <p:spPr>
          <a:xfrm>
            <a:off x="1581912" y="4649724"/>
            <a:ext cx="2390546" cy="1554480"/>
          </a:xfrm>
          <a:prstGeom prst="rect">
            <a:avLst/>
          </a:prstGeom>
          <a:noFill/>
        </p:spPr>
        <p:txBody>
          <a:bodyPr wrap="square" lIns="0" tIns="0" rIns="0" bIns="0" anchor="t">
            <a:spAutoFit/>
          </a:bodyPr>
          <a:lstStyle/>
          <a:p>
            <a:pPr algn="l">
              <a:lnSpc>
                <a:spcPct val="125000"/>
              </a:lnSpc>
            </a:pPr>
            <a:r>
              <a:rPr sz="1200" b="0">
                <a:solidFill>
                  <a:srgbClr val="8A94A8"/>
                </a:solidFill>
                <a:latin typeface="Vazirmatn"/>
                <a:ea typeface="Vazirmatn"/>
                <a:cs typeface="Vazirmatn"/>
              </a:rPr>
              <a:t>Patterns expose affiliations, habits, and vulnerabilities.</a:t>
            </a:r>
          </a:p>
        </p:txBody>
      </p:sp>
      <p:pic>
        <p:nvPicPr>
          <p:cNvPr id="20" name="Picture 19" descr="warning_5EA0F2.png"/>
          <p:cNvPicPr>
            <a:picLocks noChangeAspect="1"/>
          </p:cNvPicPr>
          <p:nvPr/>
        </p:nvPicPr>
        <p:blipFill>
          <a:blip r:embed="rId7"/>
          <a:stretch>
            <a:fillRect/>
          </a:stretch>
        </p:blipFill>
        <p:spPr>
          <a:xfrm>
            <a:off x="4521098" y="4210812"/>
            <a:ext cx="502920" cy="502920"/>
          </a:xfrm>
          <a:prstGeom prst="rect">
            <a:avLst/>
          </a:prstGeom>
        </p:spPr>
      </p:pic>
      <p:sp>
        <p:nvSpPr>
          <p:cNvPr id="21" name="TextBox 20"/>
          <p:cNvSpPr txBox="1"/>
          <p:nvPr/>
        </p:nvSpPr>
        <p:spPr>
          <a:xfrm>
            <a:off x="5280050" y="4210812"/>
            <a:ext cx="2390546" cy="384048"/>
          </a:xfrm>
          <a:prstGeom prst="rect">
            <a:avLst/>
          </a:prstGeom>
          <a:noFill/>
        </p:spPr>
        <p:txBody>
          <a:bodyPr wrap="square" lIns="0" tIns="0" rIns="0" bIns="0" anchor="t">
            <a:spAutoFit/>
          </a:bodyPr>
          <a:lstStyle/>
          <a:p>
            <a:pPr algn="l">
              <a:lnSpc>
                <a:spcPct val="115000"/>
              </a:lnSpc>
            </a:pPr>
            <a:r>
              <a:rPr sz="1550" b="1">
                <a:solidFill>
                  <a:srgbClr val="F2F5FA"/>
                </a:solidFill>
                <a:latin typeface="Vazirmatn"/>
                <a:ea typeface="Vazirmatn"/>
                <a:cs typeface="Vazirmatn"/>
              </a:rPr>
              <a:t>Irreversibility</a:t>
            </a:r>
          </a:p>
        </p:txBody>
      </p:sp>
      <p:sp>
        <p:nvSpPr>
          <p:cNvPr id="22" name="TextBox 21"/>
          <p:cNvSpPr txBox="1"/>
          <p:nvPr/>
        </p:nvSpPr>
        <p:spPr>
          <a:xfrm>
            <a:off x="5280050" y="4649724"/>
            <a:ext cx="2390546" cy="1554480"/>
          </a:xfrm>
          <a:prstGeom prst="rect">
            <a:avLst/>
          </a:prstGeom>
          <a:noFill/>
        </p:spPr>
        <p:txBody>
          <a:bodyPr wrap="square" lIns="0" tIns="0" rIns="0" bIns="0" anchor="t">
            <a:spAutoFit/>
          </a:bodyPr>
          <a:lstStyle/>
          <a:p>
            <a:pPr algn="l">
              <a:lnSpc>
                <a:spcPct val="125000"/>
              </a:lnSpc>
            </a:pPr>
            <a:r>
              <a:rPr sz="1200" b="0">
                <a:solidFill>
                  <a:srgbClr val="8A94A8"/>
                </a:solidFill>
                <a:latin typeface="Vazirmatn"/>
                <a:ea typeface="Vazirmatn"/>
                <a:cs typeface="Vazirmatn"/>
              </a:rPr>
              <a:t>Copies spread beyond your control; you can’t un-leak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1554480"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1554480" cy="283464"/>
          </a:xfrm>
          <a:prstGeom prst="rect">
            <a:avLst/>
          </a:prstGeom>
          <a:noFill/>
        </p:spPr>
        <p:txBody>
          <a:bodyPr wrap="square" lIns="0" tIns="0" rIns="0" bIns="0" anchor="ctr">
            <a:spAutoFit/>
          </a:bodyPr>
          <a:lstStyle/>
          <a:p>
            <a:pPr algn="ctr">
              <a:lnSpc>
                <a:spcPct val="115000"/>
              </a:lnSpc>
            </a:pPr>
            <a:r>
              <a:rPr sz="1050" b="1">
                <a:solidFill>
                  <a:srgbClr val="5EA0F2"/>
                </a:solidFill>
                <a:latin typeface="Vazirmatn"/>
                <a:ea typeface="Vazirmatn"/>
                <a:cs typeface="Vazirmatn"/>
              </a:rPr>
              <a:t>OPSEC FOUNDATION</a:t>
            </a:r>
          </a:p>
        </p:txBody>
      </p:sp>
      <p:sp>
        <p:nvSpPr>
          <p:cNvPr id="5" name="TextBox 4"/>
          <p:cNvSpPr txBox="1"/>
          <p:nvPr/>
        </p:nvSpPr>
        <p:spPr>
          <a:xfrm>
            <a:off x="822960" y="859536"/>
            <a:ext cx="10545775" cy="713232"/>
          </a:xfrm>
          <a:prstGeom prst="rect">
            <a:avLst/>
          </a:prstGeom>
          <a:noFill/>
        </p:spPr>
        <p:txBody>
          <a:bodyPr wrap="square" lIns="0" tIns="0" rIns="0" bIns="0" anchor="t">
            <a:spAutoFit/>
          </a:bodyPr>
          <a:lstStyle/>
          <a:p>
            <a:pPr algn="l">
              <a:lnSpc>
                <a:spcPct val="105000"/>
              </a:lnSpc>
            </a:pPr>
            <a:r>
              <a:rPr sz="2800" b="0" dirty="0">
                <a:solidFill>
                  <a:srgbClr val="F2F5FA"/>
                </a:solidFill>
                <a:latin typeface="Vazirmatn"/>
                <a:ea typeface="Vazirmatn"/>
                <a:cs typeface="Vazirmatn"/>
              </a:rPr>
              <a:t>Privacy ≠ Anonymity — Know Your Threat Model</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4</a:t>
            </a:r>
          </a:p>
        </p:txBody>
      </p:sp>
      <p:sp>
        <p:nvSpPr>
          <p:cNvPr id="8" name="Rounded Rectangle 7"/>
          <p:cNvSpPr/>
          <p:nvPr/>
        </p:nvSpPr>
        <p:spPr>
          <a:xfrm>
            <a:off x="822960" y="2066544"/>
            <a:ext cx="5090007" cy="3739896"/>
          </a:xfrm>
          <a:prstGeom prst="roundRect">
            <a:avLst>
              <a:gd name="adj" fmla="val 10000"/>
            </a:avLst>
          </a:prstGeom>
          <a:solidFill>
            <a:srgbClr val="1A2130"/>
          </a:solidFill>
          <a:ln w="9525">
            <a:solidFill>
              <a:srgbClr val="2A3348"/>
            </a:solidFill>
          </a:ln>
          <a:effectLst/>
        </p:spPr>
        <p:txBody>
          <a:bodyPr rtlCol="0" anchor="ctr"/>
          <a:lstStyle/>
          <a:p>
            <a:pPr algn="ctr"/>
            <a:endParaRPr/>
          </a:p>
        </p:txBody>
      </p:sp>
      <p:sp>
        <p:nvSpPr>
          <p:cNvPr id="9" name="Rectangle 8"/>
          <p:cNvSpPr/>
          <p:nvPr/>
        </p:nvSpPr>
        <p:spPr>
          <a:xfrm>
            <a:off x="1188720" y="2450592"/>
            <a:ext cx="365760" cy="50292"/>
          </a:xfrm>
          <a:prstGeom prst="rect">
            <a:avLst/>
          </a:prstGeom>
          <a:solidFill>
            <a:srgbClr val="5EA0F2"/>
          </a:solidFill>
          <a:ln>
            <a:noFill/>
          </a:ln>
          <a:effectLst/>
        </p:spPr>
        <p:txBody>
          <a:bodyPr rtlCol="0" anchor="ctr"/>
          <a:lstStyle/>
          <a:p>
            <a:pPr algn="ctr"/>
            <a:endParaRPr/>
          </a:p>
        </p:txBody>
      </p:sp>
      <p:sp>
        <p:nvSpPr>
          <p:cNvPr id="10" name="TextBox 9"/>
          <p:cNvSpPr txBox="1"/>
          <p:nvPr/>
        </p:nvSpPr>
        <p:spPr>
          <a:xfrm>
            <a:off x="1188720" y="2615184"/>
            <a:ext cx="4358487" cy="457200"/>
          </a:xfrm>
          <a:prstGeom prst="rect">
            <a:avLst/>
          </a:prstGeom>
          <a:noFill/>
        </p:spPr>
        <p:txBody>
          <a:bodyPr wrap="square" lIns="0" tIns="0" rIns="0" bIns="0" anchor="t">
            <a:spAutoFit/>
          </a:bodyPr>
          <a:lstStyle/>
          <a:p>
            <a:pPr algn="l">
              <a:lnSpc>
                <a:spcPct val="115000"/>
              </a:lnSpc>
            </a:pPr>
            <a:r>
              <a:rPr sz="1700" b="1">
                <a:solidFill>
                  <a:srgbClr val="F2F5FA"/>
                </a:solidFill>
                <a:latin typeface="Vazirmatn"/>
                <a:ea typeface="Vazirmatn"/>
                <a:cs typeface="Vazirmatn"/>
              </a:rPr>
              <a:t>Privacy · who can access it?</a:t>
            </a:r>
          </a:p>
        </p:txBody>
      </p:sp>
      <p:sp>
        <p:nvSpPr>
          <p:cNvPr id="11" name="Oval 10"/>
          <p:cNvSpPr/>
          <p:nvPr/>
        </p:nvSpPr>
        <p:spPr>
          <a:xfrm>
            <a:off x="1207008" y="3456432"/>
            <a:ext cx="91440" cy="91440"/>
          </a:xfrm>
          <a:prstGeom prst="ellipse">
            <a:avLst/>
          </a:prstGeom>
          <a:solidFill>
            <a:srgbClr val="5EA0F2"/>
          </a:solidFill>
          <a:ln>
            <a:noFill/>
          </a:ln>
          <a:effectLst/>
        </p:spPr>
        <p:txBody>
          <a:bodyPr rtlCol="0" anchor="ctr"/>
          <a:lstStyle/>
          <a:p>
            <a:pPr algn="ctr"/>
            <a:endParaRPr/>
          </a:p>
        </p:txBody>
      </p:sp>
      <p:sp>
        <p:nvSpPr>
          <p:cNvPr id="12" name="TextBox 11"/>
          <p:cNvSpPr txBox="1"/>
          <p:nvPr/>
        </p:nvSpPr>
        <p:spPr>
          <a:xfrm>
            <a:off x="1499616" y="3346704"/>
            <a:ext cx="4047591" cy="713232"/>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Control access to content and data</a:t>
            </a:r>
          </a:p>
        </p:txBody>
      </p:sp>
      <p:sp>
        <p:nvSpPr>
          <p:cNvPr id="13" name="Oval 12"/>
          <p:cNvSpPr/>
          <p:nvPr/>
        </p:nvSpPr>
        <p:spPr>
          <a:xfrm>
            <a:off x="1207008" y="4169664"/>
            <a:ext cx="91440" cy="91440"/>
          </a:xfrm>
          <a:prstGeom prst="ellipse">
            <a:avLst/>
          </a:prstGeom>
          <a:solidFill>
            <a:srgbClr val="5EA0F2"/>
          </a:solidFill>
          <a:ln>
            <a:noFill/>
          </a:ln>
          <a:effectLst/>
        </p:spPr>
        <p:txBody>
          <a:bodyPr rtlCol="0" anchor="ctr"/>
          <a:lstStyle/>
          <a:p>
            <a:pPr algn="ctr"/>
            <a:endParaRPr/>
          </a:p>
        </p:txBody>
      </p:sp>
      <p:sp>
        <p:nvSpPr>
          <p:cNvPr id="14" name="TextBox 13"/>
          <p:cNvSpPr txBox="1"/>
          <p:nvPr/>
        </p:nvSpPr>
        <p:spPr>
          <a:xfrm>
            <a:off x="1499616" y="4059936"/>
            <a:ext cx="4047591" cy="713232"/>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Use end-to-end encryption</a:t>
            </a:r>
          </a:p>
        </p:txBody>
      </p:sp>
      <p:sp>
        <p:nvSpPr>
          <p:cNvPr id="15" name="Oval 14"/>
          <p:cNvSpPr/>
          <p:nvPr/>
        </p:nvSpPr>
        <p:spPr>
          <a:xfrm>
            <a:off x="1207008" y="4882896"/>
            <a:ext cx="91440" cy="91440"/>
          </a:xfrm>
          <a:prstGeom prst="ellipse">
            <a:avLst/>
          </a:prstGeom>
          <a:solidFill>
            <a:srgbClr val="5EA0F2"/>
          </a:solidFill>
          <a:ln>
            <a:noFill/>
          </a:ln>
          <a:effectLst/>
        </p:spPr>
        <p:txBody>
          <a:bodyPr rtlCol="0" anchor="ctr"/>
          <a:lstStyle/>
          <a:p>
            <a:pPr algn="ctr"/>
            <a:endParaRPr/>
          </a:p>
        </p:txBody>
      </p:sp>
      <p:sp>
        <p:nvSpPr>
          <p:cNvPr id="16" name="TextBox 15"/>
          <p:cNvSpPr txBox="1"/>
          <p:nvPr/>
        </p:nvSpPr>
        <p:spPr>
          <a:xfrm>
            <a:off x="1499616" y="4773168"/>
            <a:ext cx="4047591" cy="713232"/>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Minimize what you disclose</a:t>
            </a:r>
          </a:p>
        </p:txBody>
      </p:sp>
      <p:sp>
        <p:nvSpPr>
          <p:cNvPr id="17" name="Rounded Rectangle 16"/>
          <p:cNvSpPr/>
          <p:nvPr/>
        </p:nvSpPr>
        <p:spPr>
          <a:xfrm>
            <a:off x="6278727" y="2066544"/>
            <a:ext cx="5090007" cy="3739896"/>
          </a:xfrm>
          <a:prstGeom prst="roundRect">
            <a:avLst>
              <a:gd name="adj" fmla="val 10000"/>
            </a:avLst>
          </a:prstGeom>
          <a:solidFill>
            <a:srgbClr val="212A3D"/>
          </a:solidFill>
          <a:ln w="9525">
            <a:solidFill>
              <a:srgbClr val="2A3348"/>
            </a:solidFill>
          </a:ln>
          <a:effectLst/>
        </p:spPr>
        <p:txBody>
          <a:bodyPr rtlCol="0" anchor="ctr"/>
          <a:lstStyle/>
          <a:p>
            <a:pPr algn="ctr"/>
            <a:endParaRPr/>
          </a:p>
        </p:txBody>
      </p:sp>
      <p:sp>
        <p:nvSpPr>
          <p:cNvPr id="18" name="Rectangle 17"/>
          <p:cNvSpPr/>
          <p:nvPr/>
        </p:nvSpPr>
        <p:spPr>
          <a:xfrm>
            <a:off x="6644487" y="2450592"/>
            <a:ext cx="365760" cy="50292"/>
          </a:xfrm>
          <a:prstGeom prst="rect">
            <a:avLst/>
          </a:prstGeom>
          <a:solidFill>
            <a:srgbClr val="9FB4D8"/>
          </a:solidFill>
          <a:ln>
            <a:noFill/>
          </a:ln>
          <a:effectLst/>
        </p:spPr>
        <p:txBody>
          <a:bodyPr rtlCol="0" anchor="ctr"/>
          <a:lstStyle/>
          <a:p>
            <a:pPr algn="ctr"/>
            <a:endParaRPr/>
          </a:p>
        </p:txBody>
      </p:sp>
      <p:sp>
        <p:nvSpPr>
          <p:cNvPr id="19" name="TextBox 18"/>
          <p:cNvSpPr txBox="1"/>
          <p:nvPr/>
        </p:nvSpPr>
        <p:spPr>
          <a:xfrm>
            <a:off x="6644487" y="2615184"/>
            <a:ext cx="4358487" cy="457200"/>
          </a:xfrm>
          <a:prstGeom prst="rect">
            <a:avLst/>
          </a:prstGeom>
          <a:noFill/>
        </p:spPr>
        <p:txBody>
          <a:bodyPr wrap="square" lIns="0" tIns="0" rIns="0" bIns="0" anchor="t">
            <a:spAutoFit/>
          </a:bodyPr>
          <a:lstStyle/>
          <a:p>
            <a:pPr algn="l">
              <a:lnSpc>
                <a:spcPct val="115000"/>
              </a:lnSpc>
            </a:pPr>
            <a:r>
              <a:rPr sz="1700" b="1">
                <a:solidFill>
                  <a:srgbClr val="F2F5FA"/>
                </a:solidFill>
                <a:latin typeface="Vazirmatn"/>
                <a:ea typeface="Vazirmatn"/>
                <a:cs typeface="Vazirmatn"/>
              </a:rPr>
              <a:t>Anonymity · who can link it to you?</a:t>
            </a:r>
          </a:p>
        </p:txBody>
      </p:sp>
      <p:sp>
        <p:nvSpPr>
          <p:cNvPr id="20" name="Oval 19"/>
          <p:cNvSpPr/>
          <p:nvPr/>
        </p:nvSpPr>
        <p:spPr>
          <a:xfrm>
            <a:off x="6662775" y="3456432"/>
            <a:ext cx="91440" cy="91440"/>
          </a:xfrm>
          <a:prstGeom prst="ellipse">
            <a:avLst/>
          </a:prstGeom>
          <a:solidFill>
            <a:srgbClr val="9FB4D8"/>
          </a:solidFill>
          <a:ln>
            <a:noFill/>
          </a:ln>
          <a:effectLst/>
        </p:spPr>
        <p:txBody>
          <a:bodyPr rtlCol="0" anchor="ctr"/>
          <a:lstStyle/>
          <a:p>
            <a:pPr algn="ctr"/>
            <a:endParaRPr/>
          </a:p>
        </p:txBody>
      </p:sp>
      <p:sp>
        <p:nvSpPr>
          <p:cNvPr id="21" name="TextBox 20"/>
          <p:cNvSpPr txBox="1"/>
          <p:nvPr/>
        </p:nvSpPr>
        <p:spPr>
          <a:xfrm>
            <a:off x="6955383" y="3346704"/>
            <a:ext cx="4047591" cy="713232"/>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Separate personas and contexts</a:t>
            </a:r>
          </a:p>
        </p:txBody>
      </p:sp>
      <p:sp>
        <p:nvSpPr>
          <p:cNvPr id="22" name="Oval 21"/>
          <p:cNvSpPr/>
          <p:nvPr/>
        </p:nvSpPr>
        <p:spPr>
          <a:xfrm>
            <a:off x="6662775" y="4169664"/>
            <a:ext cx="91440" cy="91440"/>
          </a:xfrm>
          <a:prstGeom prst="ellipse">
            <a:avLst/>
          </a:prstGeom>
          <a:solidFill>
            <a:srgbClr val="9FB4D8"/>
          </a:solidFill>
          <a:ln>
            <a:noFill/>
          </a:ln>
          <a:effectLst/>
        </p:spPr>
        <p:txBody>
          <a:bodyPr rtlCol="0" anchor="ctr"/>
          <a:lstStyle/>
          <a:p>
            <a:pPr algn="ctr"/>
            <a:endParaRPr/>
          </a:p>
        </p:txBody>
      </p:sp>
      <p:sp>
        <p:nvSpPr>
          <p:cNvPr id="23" name="TextBox 22"/>
          <p:cNvSpPr txBox="1"/>
          <p:nvPr/>
        </p:nvSpPr>
        <p:spPr>
          <a:xfrm>
            <a:off x="6955383" y="4059936"/>
            <a:ext cx="4047591" cy="713232"/>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Avoid cross-context logins</a:t>
            </a:r>
          </a:p>
        </p:txBody>
      </p:sp>
      <p:sp>
        <p:nvSpPr>
          <p:cNvPr id="24" name="Oval 23"/>
          <p:cNvSpPr/>
          <p:nvPr/>
        </p:nvSpPr>
        <p:spPr>
          <a:xfrm>
            <a:off x="6662775" y="4882896"/>
            <a:ext cx="91440" cy="91440"/>
          </a:xfrm>
          <a:prstGeom prst="ellipse">
            <a:avLst/>
          </a:prstGeom>
          <a:solidFill>
            <a:srgbClr val="9FB4D8"/>
          </a:solidFill>
          <a:ln>
            <a:noFill/>
          </a:ln>
          <a:effectLst/>
        </p:spPr>
        <p:txBody>
          <a:bodyPr rtlCol="0" anchor="ctr"/>
          <a:lstStyle/>
          <a:p>
            <a:pPr algn="ctr"/>
            <a:endParaRPr/>
          </a:p>
        </p:txBody>
      </p:sp>
      <p:sp>
        <p:nvSpPr>
          <p:cNvPr id="25" name="TextBox 24"/>
          <p:cNvSpPr txBox="1"/>
          <p:nvPr/>
        </p:nvSpPr>
        <p:spPr>
          <a:xfrm>
            <a:off x="6955383" y="4773168"/>
            <a:ext cx="4047591" cy="713232"/>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Reduce identity-bearing clues</a:t>
            </a:r>
          </a:p>
        </p:txBody>
      </p:sp>
      <p:sp>
        <p:nvSpPr>
          <p:cNvPr id="26" name="Rounded Rectangle 25"/>
          <p:cNvSpPr/>
          <p:nvPr/>
        </p:nvSpPr>
        <p:spPr>
          <a:xfrm>
            <a:off x="822960" y="5989320"/>
            <a:ext cx="10545775" cy="438912"/>
          </a:xfrm>
          <a:prstGeom prst="roundRect">
            <a:avLst>
              <a:gd name="adj" fmla="val 30000"/>
            </a:avLst>
          </a:prstGeom>
          <a:solidFill>
            <a:srgbClr val="1E3A5F"/>
          </a:solidFill>
          <a:ln>
            <a:noFill/>
          </a:ln>
          <a:effectLst/>
        </p:spPr>
        <p:txBody>
          <a:bodyPr rtlCol="0" anchor="ctr"/>
          <a:lstStyle/>
          <a:p>
            <a:pPr algn="ctr"/>
            <a:endParaRPr/>
          </a:p>
        </p:txBody>
      </p:sp>
      <p:sp>
        <p:nvSpPr>
          <p:cNvPr id="27" name="TextBox 26"/>
          <p:cNvSpPr txBox="1"/>
          <p:nvPr/>
        </p:nvSpPr>
        <p:spPr>
          <a:xfrm>
            <a:off x="1188719" y="5924804"/>
            <a:ext cx="9814255" cy="548640"/>
          </a:xfrm>
          <a:prstGeom prst="rect">
            <a:avLst/>
          </a:prstGeom>
          <a:noFill/>
        </p:spPr>
        <p:txBody>
          <a:bodyPr wrap="square" lIns="0" tIns="0" rIns="0" bIns="0" anchor="ctr">
            <a:spAutoFit/>
          </a:bodyPr>
          <a:lstStyle/>
          <a:p>
            <a:pPr algn="ctr">
              <a:lnSpc>
                <a:spcPct val="115000"/>
              </a:lnSpc>
            </a:pPr>
            <a:r>
              <a:rPr sz="1300" b="1" dirty="0">
                <a:solidFill>
                  <a:srgbClr val="F2F5FA"/>
                </a:solidFill>
                <a:latin typeface="Vazirmatn"/>
                <a:ea typeface="Vazirmatn"/>
                <a:cs typeface="Vazirmatn"/>
              </a:rPr>
              <a:t>Signal with your real phone number can keep a message private—but does not make you anonymous.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1476756"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1476756" cy="283464"/>
          </a:xfrm>
          <a:prstGeom prst="rect">
            <a:avLst/>
          </a:prstGeom>
          <a:noFill/>
        </p:spPr>
        <p:txBody>
          <a:bodyPr wrap="square" lIns="0" tIns="0" rIns="0" bIns="0" anchor="ctr">
            <a:spAutoFit/>
          </a:bodyPr>
          <a:lstStyle/>
          <a:p>
            <a:pPr algn="ctr">
              <a:lnSpc>
                <a:spcPct val="115000"/>
              </a:lnSpc>
            </a:pPr>
            <a:r>
              <a:rPr sz="1050" b="1">
                <a:solidFill>
                  <a:srgbClr val="5EA0F2"/>
                </a:solidFill>
                <a:latin typeface="Vazirmatn"/>
                <a:ea typeface="Vazirmatn"/>
                <a:cs typeface="Vazirmatn"/>
              </a:rPr>
              <a:t>NETWORK DEFENSE</a:t>
            </a:r>
          </a:p>
        </p:txBody>
      </p:sp>
      <p:sp>
        <p:nvSpPr>
          <p:cNvPr id="5" name="TextBox 4"/>
          <p:cNvSpPr txBox="1"/>
          <p:nvPr/>
        </p:nvSpPr>
        <p:spPr>
          <a:xfrm>
            <a:off x="822960" y="859536"/>
            <a:ext cx="10545775" cy="713232"/>
          </a:xfrm>
          <a:prstGeom prst="rect">
            <a:avLst/>
          </a:prstGeom>
          <a:noFill/>
        </p:spPr>
        <p:txBody>
          <a:bodyPr wrap="square" lIns="0" tIns="0" rIns="0" bIns="0" anchor="t">
            <a:spAutoFit/>
          </a:bodyPr>
          <a:lstStyle/>
          <a:p>
            <a:pPr algn="l">
              <a:lnSpc>
                <a:spcPct val="105000"/>
              </a:lnSpc>
            </a:pPr>
            <a:r>
              <a:rPr sz="2800" b="0">
                <a:solidFill>
                  <a:srgbClr val="F2F5FA"/>
                </a:solidFill>
                <a:latin typeface="Vazirmatn"/>
                <a:ea typeface="Vazirmatn"/>
                <a:cs typeface="Vazirmatn"/>
              </a:rPr>
              <a:t>VPN, Tor, Mullvad: Pick the Right Pipe</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5</a:t>
            </a:r>
          </a:p>
        </p:txBody>
      </p:sp>
      <p:sp>
        <p:nvSpPr>
          <p:cNvPr id="8" name="Rounded Rectangle 7"/>
          <p:cNvSpPr/>
          <p:nvPr/>
        </p:nvSpPr>
        <p:spPr>
          <a:xfrm>
            <a:off x="822960" y="5907024"/>
            <a:ext cx="10545775" cy="566928"/>
          </a:xfrm>
          <a:prstGeom prst="roundRect">
            <a:avLst>
              <a:gd name="adj" fmla="val 12000"/>
            </a:avLst>
          </a:prstGeom>
          <a:solidFill>
            <a:srgbClr val="1E3A5F"/>
          </a:solidFill>
          <a:ln>
            <a:noFill/>
          </a:ln>
          <a:effectLst/>
        </p:spPr>
        <p:txBody>
          <a:bodyPr rtlCol="0" anchor="ctr"/>
          <a:lstStyle/>
          <a:p>
            <a:pPr algn="ctr"/>
            <a:endParaRPr/>
          </a:p>
        </p:txBody>
      </p:sp>
      <p:pic>
        <p:nvPicPr>
          <p:cNvPr id="9" name="Picture 8" descr="sticky_note_2_5EA0F2.png"/>
          <p:cNvPicPr>
            <a:picLocks noChangeAspect="1"/>
          </p:cNvPicPr>
          <p:nvPr/>
        </p:nvPicPr>
        <p:blipFill>
          <a:blip r:embed="rId3"/>
          <a:stretch>
            <a:fillRect/>
          </a:stretch>
        </p:blipFill>
        <p:spPr>
          <a:xfrm>
            <a:off x="1051560" y="6053328"/>
            <a:ext cx="274320" cy="274320"/>
          </a:xfrm>
          <a:prstGeom prst="rect">
            <a:avLst/>
          </a:prstGeom>
        </p:spPr>
      </p:pic>
      <p:sp>
        <p:nvSpPr>
          <p:cNvPr id="10" name="TextBox 9"/>
          <p:cNvSpPr txBox="1"/>
          <p:nvPr/>
        </p:nvSpPr>
        <p:spPr>
          <a:xfrm>
            <a:off x="1508760" y="5907024"/>
            <a:ext cx="9631375" cy="566928"/>
          </a:xfrm>
          <a:prstGeom prst="rect">
            <a:avLst/>
          </a:prstGeom>
          <a:noFill/>
        </p:spPr>
        <p:txBody>
          <a:bodyPr wrap="square" lIns="0" tIns="0" rIns="0" bIns="0" anchor="ctr">
            <a:spAutoFit/>
          </a:bodyPr>
          <a:lstStyle/>
          <a:p>
            <a:pPr algn="l">
              <a:lnSpc>
                <a:spcPct val="115000"/>
              </a:lnSpc>
            </a:pPr>
            <a:r>
              <a:rPr sz="1300" b="1">
                <a:solidFill>
                  <a:srgbClr val="F2F5FA"/>
                </a:solidFill>
                <a:latin typeface="Vazirmatn"/>
                <a:ea typeface="Vazirmatn"/>
                <a:cs typeface="Vazirmatn"/>
              </a:rPr>
              <a:t>A VPN is not a magic shield — it changes who can spy on you.</a:t>
            </a:r>
          </a:p>
        </p:txBody>
      </p:sp>
      <p:sp>
        <p:nvSpPr>
          <p:cNvPr id="11" name="Rectangle 10"/>
          <p:cNvSpPr/>
          <p:nvPr/>
        </p:nvSpPr>
        <p:spPr>
          <a:xfrm>
            <a:off x="1024128" y="2482596"/>
            <a:ext cx="475488" cy="50292"/>
          </a:xfrm>
          <a:prstGeom prst="rect">
            <a:avLst/>
          </a:prstGeom>
          <a:solidFill>
            <a:srgbClr val="5EA0F2"/>
          </a:solidFill>
          <a:ln>
            <a:noFill/>
          </a:ln>
          <a:effectLst/>
        </p:spPr>
        <p:txBody>
          <a:bodyPr rtlCol="0" anchor="ctr"/>
          <a:lstStyle/>
          <a:p>
            <a:pPr algn="ctr"/>
            <a:endParaRPr/>
          </a:p>
        </p:txBody>
      </p:sp>
      <p:pic>
        <p:nvPicPr>
          <p:cNvPr id="12" name="Picture 11" descr="shield_5EA0F2.png"/>
          <p:cNvPicPr>
            <a:picLocks noChangeAspect="1"/>
          </p:cNvPicPr>
          <p:nvPr/>
        </p:nvPicPr>
        <p:blipFill>
          <a:blip r:embed="rId4"/>
          <a:stretch>
            <a:fillRect/>
          </a:stretch>
        </p:blipFill>
        <p:spPr>
          <a:xfrm>
            <a:off x="1024128" y="2811780"/>
            <a:ext cx="548640" cy="548640"/>
          </a:xfrm>
          <a:prstGeom prst="rect">
            <a:avLst/>
          </a:prstGeom>
        </p:spPr>
      </p:pic>
      <p:sp>
        <p:nvSpPr>
          <p:cNvPr id="13" name="TextBox 12"/>
          <p:cNvSpPr txBox="1"/>
          <p:nvPr/>
        </p:nvSpPr>
        <p:spPr>
          <a:xfrm>
            <a:off x="1024128" y="3534156"/>
            <a:ext cx="2917850" cy="548640"/>
          </a:xfrm>
          <a:prstGeom prst="rect">
            <a:avLst/>
          </a:prstGeom>
          <a:noFill/>
        </p:spPr>
        <p:txBody>
          <a:bodyPr wrap="square" lIns="0" tIns="0" rIns="0" bIns="0" anchor="t">
            <a:spAutoFit/>
          </a:bodyPr>
          <a:lstStyle/>
          <a:p>
            <a:pPr algn="l">
              <a:lnSpc>
                <a:spcPct val="115000"/>
              </a:lnSpc>
            </a:pPr>
            <a:r>
              <a:rPr sz="1600" b="1">
                <a:solidFill>
                  <a:srgbClr val="F2F5FA"/>
                </a:solidFill>
                <a:latin typeface="Vazirmatn"/>
                <a:ea typeface="Vazirmatn"/>
                <a:cs typeface="Vazirmatn"/>
              </a:rPr>
              <a:t>VPN</a:t>
            </a:r>
          </a:p>
        </p:txBody>
      </p:sp>
      <p:sp>
        <p:nvSpPr>
          <p:cNvPr id="14" name="TextBox 13"/>
          <p:cNvSpPr txBox="1"/>
          <p:nvPr/>
        </p:nvSpPr>
        <p:spPr>
          <a:xfrm>
            <a:off x="1024128" y="4146804"/>
            <a:ext cx="2917850" cy="978408"/>
          </a:xfrm>
          <a:prstGeom prst="rect">
            <a:avLst/>
          </a:prstGeom>
          <a:noFill/>
        </p:spPr>
        <p:txBody>
          <a:bodyPr wrap="square" lIns="0" tIns="0" rIns="0" bIns="0" anchor="t">
            <a:spAutoFit/>
          </a:bodyPr>
          <a:lstStyle/>
          <a:p>
            <a:pPr algn="l">
              <a:lnSpc>
                <a:spcPct val="130000"/>
              </a:lnSpc>
            </a:pPr>
            <a:r>
              <a:rPr sz="1250" b="0">
                <a:solidFill>
                  <a:srgbClr val="8A94A8"/>
                </a:solidFill>
                <a:latin typeface="Vazirmatn"/>
                <a:ea typeface="Vazirmatn"/>
                <a:cs typeface="Vazirmatn"/>
              </a:rPr>
              <a:t>Shifts visible trust from your ISP to the provider. Choose audited, no-logs services—but understand you now trust that company.</a:t>
            </a:r>
          </a:p>
        </p:txBody>
      </p:sp>
      <p:sp>
        <p:nvSpPr>
          <p:cNvPr id="15" name="Rectangle 14"/>
          <p:cNvSpPr/>
          <p:nvPr/>
        </p:nvSpPr>
        <p:spPr>
          <a:xfrm>
            <a:off x="4289450" y="2482596"/>
            <a:ext cx="9525" cy="2825496"/>
          </a:xfrm>
          <a:prstGeom prst="rect">
            <a:avLst/>
          </a:prstGeom>
          <a:solidFill>
            <a:srgbClr val="2A3348"/>
          </a:solidFill>
          <a:ln>
            <a:noFill/>
          </a:ln>
          <a:effectLst/>
        </p:spPr>
        <p:txBody>
          <a:bodyPr rtlCol="0" anchor="ctr"/>
          <a:lstStyle/>
          <a:p>
            <a:pPr algn="ctr"/>
            <a:endParaRPr/>
          </a:p>
        </p:txBody>
      </p:sp>
      <p:sp>
        <p:nvSpPr>
          <p:cNvPr id="16" name="Rectangle 15"/>
          <p:cNvSpPr/>
          <p:nvPr/>
        </p:nvSpPr>
        <p:spPr>
          <a:xfrm>
            <a:off x="4636922" y="2482596"/>
            <a:ext cx="475488" cy="50292"/>
          </a:xfrm>
          <a:prstGeom prst="rect">
            <a:avLst/>
          </a:prstGeom>
          <a:solidFill>
            <a:srgbClr val="5EA0F2"/>
          </a:solidFill>
          <a:ln>
            <a:noFill/>
          </a:ln>
          <a:effectLst/>
        </p:spPr>
        <p:txBody>
          <a:bodyPr rtlCol="0" anchor="ctr"/>
          <a:lstStyle/>
          <a:p>
            <a:pPr algn="ctr"/>
            <a:endParaRPr/>
          </a:p>
        </p:txBody>
      </p:sp>
      <p:pic>
        <p:nvPicPr>
          <p:cNvPr id="17" name="Picture 16" descr="layers_5EA0F2.png"/>
          <p:cNvPicPr>
            <a:picLocks noChangeAspect="1"/>
          </p:cNvPicPr>
          <p:nvPr/>
        </p:nvPicPr>
        <p:blipFill>
          <a:blip r:embed="rId5"/>
          <a:stretch>
            <a:fillRect/>
          </a:stretch>
        </p:blipFill>
        <p:spPr>
          <a:xfrm>
            <a:off x="4636922" y="2811780"/>
            <a:ext cx="548640" cy="548640"/>
          </a:xfrm>
          <a:prstGeom prst="rect">
            <a:avLst/>
          </a:prstGeom>
        </p:spPr>
      </p:pic>
      <p:sp>
        <p:nvSpPr>
          <p:cNvPr id="18" name="TextBox 17"/>
          <p:cNvSpPr txBox="1"/>
          <p:nvPr/>
        </p:nvSpPr>
        <p:spPr>
          <a:xfrm>
            <a:off x="4636922" y="3534156"/>
            <a:ext cx="2917850" cy="548640"/>
          </a:xfrm>
          <a:prstGeom prst="rect">
            <a:avLst/>
          </a:prstGeom>
          <a:noFill/>
        </p:spPr>
        <p:txBody>
          <a:bodyPr wrap="square" lIns="0" tIns="0" rIns="0" bIns="0" anchor="t">
            <a:spAutoFit/>
          </a:bodyPr>
          <a:lstStyle/>
          <a:p>
            <a:pPr algn="l">
              <a:lnSpc>
                <a:spcPct val="115000"/>
              </a:lnSpc>
            </a:pPr>
            <a:r>
              <a:rPr sz="1600" b="1">
                <a:solidFill>
                  <a:srgbClr val="F2F5FA"/>
                </a:solidFill>
                <a:latin typeface="Vazirmatn"/>
                <a:ea typeface="Vazirmatn"/>
                <a:cs typeface="Vazirmatn"/>
              </a:rPr>
              <a:t>Tor</a:t>
            </a:r>
          </a:p>
        </p:txBody>
      </p:sp>
      <p:sp>
        <p:nvSpPr>
          <p:cNvPr id="19" name="TextBox 18"/>
          <p:cNvSpPr txBox="1"/>
          <p:nvPr/>
        </p:nvSpPr>
        <p:spPr>
          <a:xfrm>
            <a:off x="4636922" y="4146804"/>
            <a:ext cx="2917850" cy="978408"/>
          </a:xfrm>
          <a:prstGeom prst="rect">
            <a:avLst/>
          </a:prstGeom>
          <a:noFill/>
        </p:spPr>
        <p:txBody>
          <a:bodyPr wrap="square" lIns="0" tIns="0" rIns="0" bIns="0" anchor="t">
            <a:spAutoFit/>
          </a:bodyPr>
          <a:lstStyle/>
          <a:p>
            <a:pPr algn="l">
              <a:lnSpc>
                <a:spcPct val="130000"/>
              </a:lnSpc>
            </a:pPr>
            <a:r>
              <a:rPr sz="1250" b="0">
                <a:solidFill>
                  <a:srgbClr val="8A94A8"/>
                </a:solidFill>
                <a:latin typeface="Vazirmatn"/>
                <a:ea typeface="Vazirmatn"/>
                <a:cs typeface="Vazirmatn"/>
              </a:rPr>
              <a:t>Routes traffic through volunteer relays so no single point sees both origin and destination. Slower; not designed for everyday browsing.</a:t>
            </a:r>
          </a:p>
        </p:txBody>
      </p:sp>
      <p:sp>
        <p:nvSpPr>
          <p:cNvPr id="20" name="Rectangle 19"/>
          <p:cNvSpPr/>
          <p:nvPr/>
        </p:nvSpPr>
        <p:spPr>
          <a:xfrm>
            <a:off x="7902244" y="2482596"/>
            <a:ext cx="9525" cy="2825496"/>
          </a:xfrm>
          <a:prstGeom prst="rect">
            <a:avLst/>
          </a:prstGeom>
          <a:solidFill>
            <a:srgbClr val="2A3348"/>
          </a:solidFill>
          <a:ln>
            <a:noFill/>
          </a:ln>
          <a:effectLst/>
        </p:spPr>
        <p:txBody>
          <a:bodyPr rtlCol="0" anchor="ctr"/>
          <a:lstStyle/>
          <a:p>
            <a:pPr algn="ctr"/>
            <a:endParaRPr/>
          </a:p>
        </p:txBody>
      </p:sp>
      <p:sp>
        <p:nvSpPr>
          <p:cNvPr id="21" name="Rectangle 20"/>
          <p:cNvSpPr/>
          <p:nvPr/>
        </p:nvSpPr>
        <p:spPr>
          <a:xfrm>
            <a:off x="8249716" y="2482596"/>
            <a:ext cx="475488" cy="50292"/>
          </a:xfrm>
          <a:prstGeom prst="rect">
            <a:avLst/>
          </a:prstGeom>
          <a:solidFill>
            <a:srgbClr val="5EA0F2"/>
          </a:solidFill>
          <a:ln>
            <a:noFill/>
          </a:ln>
          <a:effectLst/>
        </p:spPr>
        <p:txBody>
          <a:bodyPr rtlCol="0" anchor="ctr"/>
          <a:lstStyle/>
          <a:p>
            <a:pPr algn="ctr"/>
            <a:endParaRPr/>
          </a:p>
        </p:txBody>
      </p:sp>
      <p:pic>
        <p:nvPicPr>
          <p:cNvPr id="22" name="Picture 21" descr="visibility_5EA0F2.png"/>
          <p:cNvPicPr>
            <a:picLocks noChangeAspect="1"/>
          </p:cNvPicPr>
          <p:nvPr/>
        </p:nvPicPr>
        <p:blipFill>
          <a:blip r:embed="rId6"/>
          <a:stretch>
            <a:fillRect/>
          </a:stretch>
        </p:blipFill>
        <p:spPr>
          <a:xfrm>
            <a:off x="8249716" y="2811780"/>
            <a:ext cx="548640" cy="548640"/>
          </a:xfrm>
          <a:prstGeom prst="rect">
            <a:avLst/>
          </a:prstGeom>
        </p:spPr>
      </p:pic>
      <p:sp>
        <p:nvSpPr>
          <p:cNvPr id="23" name="TextBox 22"/>
          <p:cNvSpPr txBox="1"/>
          <p:nvPr/>
        </p:nvSpPr>
        <p:spPr>
          <a:xfrm>
            <a:off x="8249716" y="3534156"/>
            <a:ext cx="2917850" cy="548640"/>
          </a:xfrm>
          <a:prstGeom prst="rect">
            <a:avLst/>
          </a:prstGeom>
          <a:noFill/>
        </p:spPr>
        <p:txBody>
          <a:bodyPr wrap="square" lIns="0" tIns="0" rIns="0" bIns="0" anchor="t">
            <a:spAutoFit/>
          </a:bodyPr>
          <a:lstStyle/>
          <a:p>
            <a:pPr algn="l">
              <a:lnSpc>
                <a:spcPct val="115000"/>
              </a:lnSpc>
            </a:pPr>
            <a:r>
              <a:rPr sz="1600" b="1">
                <a:solidFill>
                  <a:srgbClr val="F2F5FA"/>
                </a:solidFill>
                <a:latin typeface="Vazirmatn"/>
                <a:ea typeface="Vazirmatn"/>
                <a:cs typeface="Vazirmatn"/>
              </a:rPr>
              <a:t>Mullvad Browser</a:t>
            </a:r>
          </a:p>
        </p:txBody>
      </p:sp>
      <p:sp>
        <p:nvSpPr>
          <p:cNvPr id="24" name="TextBox 23"/>
          <p:cNvSpPr txBox="1"/>
          <p:nvPr/>
        </p:nvSpPr>
        <p:spPr>
          <a:xfrm>
            <a:off x="8249716" y="4146804"/>
            <a:ext cx="2917850" cy="978408"/>
          </a:xfrm>
          <a:prstGeom prst="rect">
            <a:avLst/>
          </a:prstGeom>
          <a:noFill/>
        </p:spPr>
        <p:txBody>
          <a:bodyPr wrap="square" lIns="0" tIns="0" rIns="0" bIns="0" anchor="t">
            <a:spAutoFit/>
          </a:bodyPr>
          <a:lstStyle/>
          <a:p>
            <a:pPr algn="l">
              <a:lnSpc>
                <a:spcPct val="130000"/>
              </a:lnSpc>
            </a:pPr>
            <a:r>
              <a:rPr sz="1250" b="0">
                <a:solidFill>
                  <a:srgbClr val="8A94A8"/>
                </a:solidFill>
                <a:latin typeface="Vazirmatn"/>
                <a:ea typeface="Vazirmatn"/>
                <a:cs typeface="Vazirmatn"/>
              </a:rPr>
              <a:t>Built with the Tor Project to resist tracking and fingerprinting—without Tor’s network latency. Pair it with a VPN or use it alone.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1943100"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1943100" cy="283464"/>
          </a:xfrm>
          <a:prstGeom prst="rect">
            <a:avLst/>
          </a:prstGeom>
          <a:noFill/>
        </p:spPr>
        <p:txBody>
          <a:bodyPr wrap="square" lIns="0" tIns="0" rIns="0" bIns="0" anchor="ctr">
            <a:spAutoFit/>
          </a:bodyPr>
          <a:lstStyle/>
          <a:p>
            <a:pPr algn="ctr">
              <a:lnSpc>
                <a:spcPct val="115000"/>
              </a:lnSpc>
            </a:pPr>
            <a:r>
              <a:rPr sz="1050" b="1">
                <a:solidFill>
                  <a:srgbClr val="5EA0F2"/>
                </a:solidFill>
                <a:latin typeface="Vazirmatn"/>
                <a:ea typeface="Vazirmatn"/>
                <a:cs typeface="Vazirmatn"/>
              </a:rPr>
              <a:t>ENVIRONMENT HARDENING</a:t>
            </a:r>
          </a:p>
        </p:txBody>
      </p:sp>
      <p:sp>
        <p:nvSpPr>
          <p:cNvPr id="5" name="TextBox 4"/>
          <p:cNvSpPr txBox="1"/>
          <p:nvPr/>
        </p:nvSpPr>
        <p:spPr>
          <a:xfrm>
            <a:off x="822960" y="859536"/>
            <a:ext cx="10545775" cy="713232"/>
          </a:xfrm>
          <a:prstGeom prst="rect">
            <a:avLst/>
          </a:prstGeom>
          <a:noFill/>
        </p:spPr>
        <p:txBody>
          <a:bodyPr wrap="square" lIns="0" tIns="0" rIns="0" bIns="0" anchor="t">
            <a:spAutoFit/>
          </a:bodyPr>
          <a:lstStyle/>
          <a:p>
            <a:pPr algn="l">
              <a:lnSpc>
                <a:spcPct val="105000"/>
              </a:lnSpc>
            </a:pPr>
            <a:r>
              <a:rPr sz="2800" b="0" dirty="0">
                <a:solidFill>
                  <a:srgbClr val="F2F5FA"/>
                </a:solidFill>
                <a:latin typeface="Vazirmatn"/>
                <a:ea typeface="Vazirmatn"/>
                <a:cs typeface="Vazirmatn"/>
              </a:rPr>
              <a:t>Compartmentalize: Never Mix Contexts</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6</a:t>
            </a:r>
          </a:p>
        </p:txBody>
      </p:sp>
      <p:sp>
        <p:nvSpPr>
          <p:cNvPr id="8" name="Rounded Rectangle 7"/>
          <p:cNvSpPr/>
          <p:nvPr/>
        </p:nvSpPr>
        <p:spPr>
          <a:xfrm>
            <a:off x="822960" y="5907024"/>
            <a:ext cx="10545775" cy="566928"/>
          </a:xfrm>
          <a:prstGeom prst="roundRect">
            <a:avLst>
              <a:gd name="adj" fmla="val 12000"/>
            </a:avLst>
          </a:prstGeom>
          <a:solidFill>
            <a:srgbClr val="1E3A5F"/>
          </a:solidFill>
          <a:ln>
            <a:noFill/>
          </a:ln>
          <a:effectLst/>
        </p:spPr>
        <p:txBody>
          <a:bodyPr rtlCol="0" anchor="ctr"/>
          <a:lstStyle/>
          <a:p>
            <a:pPr algn="ctr"/>
            <a:endParaRPr/>
          </a:p>
        </p:txBody>
      </p:sp>
      <p:pic>
        <p:nvPicPr>
          <p:cNvPr id="9" name="Picture 8" descr="sticky_note_2_5EA0F2.png"/>
          <p:cNvPicPr>
            <a:picLocks noChangeAspect="1"/>
          </p:cNvPicPr>
          <p:nvPr/>
        </p:nvPicPr>
        <p:blipFill>
          <a:blip r:embed="rId3"/>
          <a:stretch>
            <a:fillRect/>
          </a:stretch>
        </p:blipFill>
        <p:spPr>
          <a:xfrm>
            <a:off x="1051560" y="6053328"/>
            <a:ext cx="274320" cy="274320"/>
          </a:xfrm>
          <a:prstGeom prst="rect">
            <a:avLst/>
          </a:prstGeom>
        </p:spPr>
      </p:pic>
      <p:sp>
        <p:nvSpPr>
          <p:cNvPr id="10" name="TextBox 9"/>
          <p:cNvSpPr txBox="1"/>
          <p:nvPr/>
        </p:nvSpPr>
        <p:spPr>
          <a:xfrm>
            <a:off x="1508760" y="5907024"/>
            <a:ext cx="9631375" cy="566928"/>
          </a:xfrm>
          <a:prstGeom prst="rect">
            <a:avLst/>
          </a:prstGeom>
          <a:noFill/>
        </p:spPr>
        <p:txBody>
          <a:bodyPr wrap="square" lIns="0" tIns="0" rIns="0" bIns="0" anchor="ctr">
            <a:spAutoFit/>
          </a:bodyPr>
          <a:lstStyle/>
          <a:p>
            <a:pPr algn="l">
              <a:lnSpc>
                <a:spcPct val="115000"/>
              </a:lnSpc>
            </a:pPr>
            <a:r>
              <a:rPr sz="1300" b="1">
                <a:solidFill>
                  <a:srgbClr val="F2F5FA"/>
                </a:solidFill>
                <a:latin typeface="Vazirmatn"/>
                <a:ea typeface="Vazirmatn"/>
                <a:cs typeface="Vazirmatn"/>
              </a:rPr>
              <a:t>Think in terms of blast radius: if one identity burns, the rest survive.</a:t>
            </a:r>
          </a:p>
        </p:txBody>
      </p:sp>
      <p:sp>
        <p:nvSpPr>
          <p:cNvPr id="11" name="Rounded Rectangle 10"/>
          <p:cNvSpPr/>
          <p:nvPr/>
        </p:nvSpPr>
        <p:spPr>
          <a:xfrm>
            <a:off x="2926080" y="2066544"/>
            <a:ext cx="2377440" cy="832104"/>
          </a:xfrm>
          <a:prstGeom prst="roundRect">
            <a:avLst>
              <a:gd name="adj" fmla="val 12000"/>
            </a:avLst>
          </a:prstGeom>
          <a:solidFill>
            <a:srgbClr val="5EA0F2"/>
          </a:solidFill>
          <a:ln>
            <a:noFill/>
          </a:ln>
          <a:effectLst/>
        </p:spPr>
        <p:txBody>
          <a:bodyPr rtlCol="0" anchor="ctr"/>
          <a:lstStyle/>
          <a:p>
            <a:pPr algn="ctr"/>
            <a:endParaRPr/>
          </a:p>
        </p:txBody>
      </p:sp>
      <p:sp>
        <p:nvSpPr>
          <p:cNvPr id="12" name="TextBox 11"/>
          <p:cNvSpPr txBox="1"/>
          <p:nvPr/>
        </p:nvSpPr>
        <p:spPr>
          <a:xfrm>
            <a:off x="2926080" y="2066544"/>
            <a:ext cx="2377440" cy="832104"/>
          </a:xfrm>
          <a:prstGeom prst="rect">
            <a:avLst/>
          </a:prstGeom>
          <a:noFill/>
        </p:spPr>
        <p:txBody>
          <a:bodyPr wrap="square" lIns="0" tIns="0" rIns="0" bIns="0" anchor="ctr">
            <a:spAutoFit/>
          </a:bodyPr>
          <a:lstStyle/>
          <a:p>
            <a:pPr algn="ctr">
              <a:lnSpc>
                <a:spcPct val="115000"/>
              </a:lnSpc>
            </a:pPr>
            <a:r>
              <a:rPr sz="1450" b="1" dirty="0">
                <a:solidFill>
                  <a:srgbClr val="0B0F18"/>
                </a:solidFill>
                <a:latin typeface="Vazirmatn"/>
                <a:ea typeface="Vazirmatn"/>
                <a:cs typeface="Vazirmatn"/>
              </a:rPr>
              <a:t>Tails · amnesic live USB</a:t>
            </a:r>
          </a:p>
        </p:txBody>
      </p:sp>
      <p:sp>
        <p:nvSpPr>
          <p:cNvPr id="13" name="TextBox 12"/>
          <p:cNvSpPr txBox="1"/>
          <p:nvPr/>
        </p:nvSpPr>
        <p:spPr>
          <a:xfrm>
            <a:off x="7863840" y="2066544"/>
            <a:ext cx="3504895" cy="832104"/>
          </a:xfrm>
          <a:prstGeom prst="rect">
            <a:avLst/>
          </a:prstGeom>
          <a:noFill/>
        </p:spPr>
        <p:txBody>
          <a:bodyPr wrap="square" lIns="0" tIns="0" rIns="0" bIns="0" anchor="ctr">
            <a:spAutoFit/>
          </a:bodyPr>
          <a:lstStyle/>
          <a:p>
            <a:pPr algn="l">
              <a:lnSpc>
                <a:spcPct val="120000"/>
              </a:lnSpc>
            </a:pPr>
            <a:r>
              <a:rPr sz="1200" b="0">
                <a:solidFill>
                  <a:srgbClr val="8A94A8"/>
                </a:solidFill>
                <a:latin typeface="Vazirmatn"/>
                <a:ea typeface="Vazirmatn"/>
                <a:cs typeface="Vazirmatn"/>
              </a:rPr>
              <a:t>Leaves no trace on the host drive after shutdown.</a:t>
            </a:r>
          </a:p>
        </p:txBody>
      </p:sp>
      <p:sp>
        <p:nvSpPr>
          <p:cNvPr id="14" name="Rounded Rectangle 13"/>
          <p:cNvSpPr/>
          <p:nvPr/>
        </p:nvSpPr>
        <p:spPr>
          <a:xfrm>
            <a:off x="2225040" y="3008376"/>
            <a:ext cx="3779520" cy="832104"/>
          </a:xfrm>
          <a:prstGeom prst="roundRect">
            <a:avLst>
              <a:gd name="adj" fmla="val 12000"/>
            </a:avLst>
          </a:prstGeom>
          <a:solidFill>
            <a:srgbClr val="ADBFDD"/>
          </a:solidFill>
          <a:ln>
            <a:noFill/>
          </a:ln>
          <a:effectLst/>
        </p:spPr>
        <p:txBody>
          <a:bodyPr rtlCol="0" anchor="ctr"/>
          <a:lstStyle/>
          <a:p>
            <a:pPr algn="ctr"/>
            <a:endParaRPr/>
          </a:p>
        </p:txBody>
      </p:sp>
      <p:sp>
        <p:nvSpPr>
          <p:cNvPr id="15" name="TextBox 14"/>
          <p:cNvSpPr txBox="1"/>
          <p:nvPr/>
        </p:nvSpPr>
        <p:spPr>
          <a:xfrm>
            <a:off x="2225040" y="3303625"/>
            <a:ext cx="3779520" cy="241605"/>
          </a:xfrm>
          <a:prstGeom prst="rect">
            <a:avLst/>
          </a:prstGeom>
          <a:noFill/>
        </p:spPr>
        <p:txBody>
          <a:bodyPr wrap="square" lIns="0" tIns="0" rIns="0" bIns="0" anchor="ctr">
            <a:spAutoFit/>
          </a:bodyPr>
          <a:lstStyle/>
          <a:p>
            <a:pPr algn="ctr">
              <a:lnSpc>
                <a:spcPct val="115000"/>
              </a:lnSpc>
            </a:pPr>
            <a:r>
              <a:rPr sz="1450" b="1" dirty="0" err="1">
                <a:solidFill>
                  <a:schemeClr val="tx1">
                    <a:lumMod val="65000"/>
                    <a:lumOff val="35000"/>
                  </a:schemeClr>
                </a:solidFill>
                <a:latin typeface="Vazirmatn"/>
                <a:ea typeface="Vazirmatn"/>
                <a:cs typeface="Vazirmatn"/>
              </a:rPr>
              <a:t>Whonix</a:t>
            </a:r>
            <a:r>
              <a:rPr sz="1450" b="1" dirty="0">
                <a:solidFill>
                  <a:schemeClr val="tx1">
                    <a:lumMod val="65000"/>
                    <a:lumOff val="35000"/>
                  </a:schemeClr>
                </a:solidFill>
                <a:latin typeface="Vazirmatn"/>
                <a:ea typeface="Vazirmatn"/>
                <a:cs typeface="Vazirmatn"/>
              </a:rPr>
              <a:t> · Tor gateway isolation</a:t>
            </a:r>
          </a:p>
        </p:txBody>
      </p:sp>
      <p:sp>
        <p:nvSpPr>
          <p:cNvPr id="16" name="TextBox 15"/>
          <p:cNvSpPr txBox="1"/>
          <p:nvPr/>
        </p:nvSpPr>
        <p:spPr>
          <a:xfrm>
            <a:off x="7863840" y="3008376"/>
            <a:ext cx="3504895" cy="832104"/>
          </a:xfrm>
          <a:prstGeom prst="rect">
            <a:avLst/>
          </a:prstGeom>
          <a:noFill/>
        </p:spPr>
        <p:txBody>
          <a:bodyPr wrap="square" lIns="0" tIns="0" rIns="0" bIns="0" anchor="ctr">
            <a:spAutoFit/>
          </a:bodyPr>
          <a:lstStyle/>
          <a:p>
            <a:pPr algn="l">
              <a:lnSpc>
                <a:spcPct val="120000"/>
              </a:lnSpc>
            </a:pPr>
            <a:r>
              <a:rPr sz="1200" b="0">
                <a:solidFill>
                  <a:srgbClr val="8A94A8"/>
                </a:solidFill>
                <a:latin typeface="Vazirmatn"/>
                <a:ea typeface="Vazirmatn"/>
                <a:cs typeface="Vazirmatn"/>
              </a:rPr>
              <a:t>Routes desktop traffic through Tor by design; its own docs stress tool limits.</a:t>
            </a:r>
          </a:p>
        </p:txBody>
      </p:sp>
      <p:sp>
        <p:nvSpPr>
          <p:cNvPr id="17" name="Rounded Rectangle 16"/>
          <p:cNvSpPr/>
          <p:nvPr/>
        </p:nvSpPr>
        <p:spPr>
          <a:xfrm>
            <a:off x="1524000" y="3950208"/>
            <a:ext cx="5181600" cy="832104"/>
          </a:xfrm>
          <a:prstGeom prst="roundRect">
            <a:avLst>
              <a:gd name="adj" fmla="val 12000"/>
            </a:avLst>
          </a:prstGeom>
          <a:solidFill>
            <a:srgbClr val="BECCE4"/>
          </a:solidFill>
          <a:ln>
            <a:noFill/>
          </a:ln>
          <a:effectLst/>
        </p:spPr>
        <p:txBody>
          <a:bodyPr rtlCol="0" anchor="ctr"/>
          <a:lstStyle/>
          <a:p>
            <a:pPr algn="ctr"/>
            <a:endParaRPr/>
          </a:p>
        </p:txBody>
      </p:sp>
      <p:sp>
        <p:nvSpPr>
          <p:cNvPr id="18" name="TextBox 17"/>
          <p:cNvSpPr txBox="1"/>
          <p:nvPr/>
        </p:nvSpPr>
        <p:spPr>
          <a:xfrm>
            <a:off x="1524000" y="4245457"/>
            <a:ext cx="5181600" cy="241605"/>
          </a:xfrm>
          <a:prstGeom prst="rect">
            <a:avLst/>
          </a:prstGeom>
          <a:noFill/>
        </p:spPr>
        <p:txBody>
          <a:bodyPr wrap="square" lIns="0" tIns="0" rIns="0" bIns="0" anchor="ctr">
            <a:spAutoFit/>
          </a:bodyPr>
          <a:lstStyle/>
          <a:p>
            <a:pPr algn="ctr">
              <a:lnSpc>
                <a:spcPct val="115000"/>
              </a:lnSpc>
            </a:pPr>
            <a:r>
              <a:rPr sz="1450" b="1" dirty="0">
                <a:solidFill>
                  <a:schemeClr val="tx1">
                    <a:lumMod val="75000"/>
                    <a:lumOff val="25000"/>
                  </a:schemeClr>
                </a:solidFill>
                <a:latin typeface="Vazirmatn"/>
                <a:ea typeface="Vazirmatn"/>
                <a:cs typeface="Vazirmatn"/>
              </a:rPr>
              <a:t>One VM per persona</a:t>
            </a:r>
          </a:p>
        </p:txBody>
      </p:sp>
      <p:sp>
        <p:nvSpPr>
          <p:cNvPr id="19" name="TextBox 18"/>
          <p:cNvSpPr txBox="1"/>
          <p:nvPr/>
        </p:nvSpPr>
        <p:spPr>
          <a:xfrm>
            <a:off x="7863840" y="3950208"/>
            <a:ext cx="3504895" cy="832104"/>
          </a:xfrm>
          <a:prstGeom prst="rect">
            <a:avLst/>
          </a:prstGeom>
          <a:noFill/>
        </p:spPr>
        <p:txBody>
          <a:bodyPr wrap="square" lIns="0" tIns="0" rIns="0" bIns="0" anchor="ctr">
            <a:spAutoFit/>
          </a:bodyPr>
          <a:lstStyle/>
          <a:p>
            <a:pPr algn="l">
              <a:lnSpc>
                <a:spcPct val="120000"/>
              </a:lnSpc>
            </a:pPr>
            <a:r>
              <a:rPr sz="1200" b="0">
                <a:solidFill>
                  <a:srgbClr val="8A94A8"/>
                </a:solidFill>
                <a:latin typeface="Vazirmatn"/>
                <a:ea typeface="Vazirmatn"/>
                <a:cs typeface="Vazirmatn"/>
              </a:rPr>
              <a:t>Separate virtual machines keep work, personal, and research worlds apart.</a:t>
            </a:r>
          </a:p>
        </p:txBody>
      </p:sp>
      <p:sp>
        <p:nvSpPr>
          <p:cNvPr id="20" name="Rounded Rectangle 19"/>
          <p:cNvSpPr/>
          <p:nvPr/>
        </p:nvSpPr>
        <p:spPr>
          <a:xfrm>
            <a:off x="822960" y="4892040"/>
            <a:ext cx="6583680" cy="832104"/>
          </a:xfrm>
          <a:prstGeom prst="roundRect">
            <a:avLst>
              <a:gd name="adj" fmla="val 12000"/>
            </a:avLst>
          </a:prstGeom>
          <a:solidFill>
            <a:srgbClr val="CFDAEB"/>
          </a:solidFill>
          <a:ln>
            <a:noFill/>
          </a:ln>
          <a:effectLst/>
        </p:spPr>
        <p:txBody>
          <a:bodyPr rtlCol="0" anchor="ctr"/>
          <a:lstStyle/>
          <a:p>
            <a:pPr algn="ctr"/>
            <a:endParaRPr/>
          </a:p>
        </p:txBody>
      </p:sp>
      <p:sp>
        <p:nvSpPr>
          <p:cNvPr id="21" name="TextBox 20"/>
          <p:cNvSpPr txBox="1"/>
          <p:nvPr/>
        </p:nvSpPr>
        <p:spPr>
          <a:xfrm>
            <a:off x="822960" y="5187289"/>
            <a:ext cx="6583680" cy="241605"/>
          </a:xfrm>
          <a:prstGeom prst="rect">
            <a:avLst/>
          </a:prstGeom>
          <a:noFill/>
        </p:spPr>
        <p:txBody>
          <a:bodyPr wrap="square" lIns="0" tIns="0" rIns="0" bIns="0" anchor="ctr">
            <a:spAutoFit/>
          </a:bodyPr>
          <a:lstStyle/>
          <a:p>
            <a:pPr algn="ctr">
              <a:lnSpc>
                <a:spcPct val="115000"/>
              </a:lnSpc>
            </a:pPr>
            <a:r>
              <a:rPr sz="1450" b="1" dirty="0">
                <a:solidFill>
                  <a:schemeClr val="tx1">
                    <a:lumMod val="95000"/>
                    <a:lumOff val="5000"/>
                  </a:schemeClr>
                </a:solidFill>
                <a:latin typeface="Vazirmatn"/>
                <a:ea typeface="Vazirmatn"/>
                <a:cs typeface="Vazirmatn"/>
              </a:rPr>
              <a:t>Browser profiles</a:t>
            </a:r>
          </a:p>
        </p:txBody>
      </p:sp>
      <p:sp>
        <p:nvSpPr>
          <p:cNvPr id="22" name="TextBox 21"/>
          <p:cNvSpPr txBox="1"/>
          <p:nvPr/>
        </p:nvSpPr>
        <p:spPr>
          <a:xfrm>
            <a:off x="7863840" y="4892040"/>
            <a:ext cx="3504895" cy="832104"/>
          </a:xfrm>
          <a:prstGeom prst="rect">
            <a:avLst/>
          </a:prstGeom>
          <a:noFill/>
        </p:spPr>
        <p:txBody>
          <a:bodyPr wrap="square" lIns="0" tIns="0" rIns="0" bIns="0" anchor="ctr">
            <a:spAutoFit/>
          </a:bodyPr>
          <a:lstStyle/>
          <a:p>
            <a:pPr algn="l">
              <a:lnSpc>
                <a:spcPct val="120000"/>
              </a:lnSpc>
            </a:pPr>
            <a:r>
              <a:rPr sz="1200" b="0" dirty="0">
                <a:solidFill>
                  <a:srgbClr val="8A94A8"/>
                </a:solidFill>
                <a:latin typeface="Vazirmatn"/>
                <a:ea typeface="Vazirmatn"/>
                <a:cs typeface="Vazirmatn"/>
              </a:rPr>
              <a:t>Lightweight first step: keep sessions and cookies from cross-contaminating.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1399032"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1399032" cy="283464"/>
          </a:xfrm>
          <a:prstGeom prst="rect">
            <a:avLst/>
          </a:prstGeom>
          <a:noFill/>
        </p:spPr>
        <p:txBody>
          <a:bodyPr wrap="square" lIns="0" tIns="0" rIns="0" bIns="0" anchor="ctr">
            <a:spAutoFit/>
          </a:bodyPr>
          <a:lstStyle/>
          <a:p>
            <a:pPr algn="ctr">
              <a:lnSpc>
                <a:spcPct val="115000"/>
              </a:lnSpc>
            </a:pPr>
            <a:r>
              <a:rPr sz="1050" b="1">
                <a:solidFill>
                  <a:srgbClr val="5EA0F2"/>
                </a:solidFill>
                <a:latin typeface="Vazirmatn"/>
                <a:ea typeface="Vazirmatn"/>
                <a:cs typeface="Vazirmatn"/>
              </a:rPr>
              <a:t>FINGERPRINTING</a:t>
            </a:r>
          </a:p>
        </p:txBody>
      </p:sp>
      <p:sp>
        <p:nvSpPr>
          <p:cNvPr id="5" name="TextBox 4"/>
          <p:cNvSpPr txBox="1"/>
          <p:nvPr/>
        </p:nvSpPr>
        <p:spPr>
          <a:xfrm>
            <a:off x="822960" y="859536"/>
            <a:ext cx="10545775" cy="713232"/>
          </a:xfrm>
          <a:prstGeom prst="rect">
            <a:avLst/>
          </a:prstGeom>
          <a:noFill/>
        </p:spPr>
        <p:txBody>
          <a:bodyPr wrap="square" lIns="0" tIns="0" rIns="0" bIns="0" anchor="t">
            <a:spAutoFit/>
          </a:bodyPr>
          <a:lstStyle/>
          <a:p>
            <a:pPr algn="l">
              <a:lnSpc>
                <a:spcPct val="105000"/>
              </a:lnSpc>
            </a:pPr>
            <a:r>
              <a:rPr sz="2800" b="0" dirty="0">
                <a:solidFill>
                  <a:srgbClr val="F2F5FA"/>
                </a:solidFill>
                <a:latin typeface="Vazirmatn"/>
                <a:ea typeface="Vazirmatn"/>
                <a:cs typeface="Vazirmatn"/>
              </a:rPr>
              <a:t>Your Browser Fingerprint Gives You Away</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7</a:t>
            </a:r>
          </a:p>
        </p:txBody>
      </p:sp>
      <p:sp>
        <p:nvSpPr>
          <p:cNvPr id="8" name="Rounded Rectangle 7"/>
          <p:cNvSpPr/>
          <p:nvPr/>
        </p:nvSpPr>
        <p:spPr>
          <a:xfrm>
            <a:off x="822960" y="2066544"/>
            <a:ext cx="5090007" cy="4206240"/>
          </a:xfrm>
          <a:prstGeom prst="roundRect">
            <a:avLst>
              <a:gd name="adj" fmla="val 10000"/>
            </a:avLst>
          </a:prstGeom>
          <a:solidFill>
            <a:srgbClr val="1A2130"/>
          </a:solidFill>
          <a:ln w="9525">
            <a:solidFill>
              <a:srgbClr val="2A3348"/>
            </a:solidFill>
          </a:ln>
          <a:effectLst/>
        </p:spPr>
        <p:txBody>
          <a:bodyPr rtlCol="0" anchor="ctr"/>
          <a:lstStyle/>
          <a:p>
            <a:pPr algn="ctr"/>
            <a:endParaRPr/>
          </a:p>
        </p:txBody>
      </p:sp>
      <p:sp>
        <p:nvSpPr>
          <p:cNvPr id="9" name="Rectangle 8"/>
          <p:cNvSpPr/>
          <p:nvPr/>
        </p:nvSpPr>
        <p:spPr>
          <a:xfrm>
            <a:off x="1188720" y="2450592"/>
            <a:ext cx="365760" cy="50292"/>
          </a:xfrm>
          <a:prstGeom prst="rect">
            <a:avLst/>
          </a:prstGeom>
          <a:solidFill>
            <a:srgbClr val="5EA0F2"/>
          </a:solidFill>
          <a:ln>
            <a:noFill/>
          </a:ln>
          <a:effectLst/>
        </p:spPr>
        <p:txBody>
          <a:bodyPr rtlCol="0" anchor="ctr"/>
          <a:lstStyle/>
          <a:p>
            <a:pPr algn="ctr"/>
            <a:endParaRPr/>
          </a:p>
        </p:txBody>
      </p:sp>
      <p:sp>
        <p:nvSpPr>
          <p:cNvPr id="10" name="TextBox 9"/>
          <p:cNvSpPr txBox="1"/>
          <p:nvPr/>
        </p:nvSpPr>
        <p:spPr>
          <a:xfrm>
            <a:off x="1188720" y="2615184"/>
            <a:ext cx="4358487" cy="457200"/>
          </a:xfrm>
          <a:prstGeom prst="rect">
            <a:avLst/>
          </a:prstGeom>
          <a:noFill/>
        </p:spPr>
        <p:txBody>
          <a:bodyPr wrap="square" lIns="0" tIns="0" rIns="0" bIns="0" anchor="t">
            <a:spAutoFit/>
          </a:bodyPr>
          <a:lstStyle/>
          <a:p>
            <a:pPr algn="l">
              <a:lnSpc>
                <a:spcPct val="115000"/>
              </a:lnSpc>
            </a:pPr>
            <a:r>
              <a:rPr sz="1700" b="1">
                <a:solidFill>
                  <a:srgbClr val="F2F5FA"/>
                </a:solidFill>
                <a:latin typeface="Vazirmatn"/>
                <a:ea typeface="Vazirmatn"/>
                <a:cs typeface="Vazirmatn"/>
              </a:rPr>
              <a:t>What sites can read</a:t>
            </a:r>
          </a:p>
        </p:txBody>
      </p:sp>
      <p:sp>
        <p:nvSpPr>
          <p:cNvPr id="11" name="Oval 10"/>
          <p:cNvSpPr/>
          <p:nvPr/>
        </p:nvSpPr>
        <p:spPr>
          <a:xfrm>
            <a:off x="1207008" y="3689604"/>
            <a:ext cx="91440" cy="91440"/>
          </a:xfrm>
          <a:prstGeom prst="ellipse">
            <a:avLst/>
          </a:prstGeom>
          <a:solidFill>
            <a:srgbClr val="5EA0F2"/>
          </a:solidFill>
          <a:ln>
            <a:noFill/>
          </a:ln>
          <a:effectLst/>
        </p:spPr>
        <p:txBody>
          <a:bodyPr rtlCol="0" anchor="ctr"/>
          <a:lstStyle/>
          <a:p>
            <a:pPr algn="ctr"/>
            <a:endParaRPr/>
          </a:p>
        </p:txBody>
      </p:sp>
      <p:sp>
        <p:nvSpPr>
          <p:cNvPr id="12" name="TextBox 11"/>
          <p:cNvSpPr txBox="1"/>
          <p:nvPr/>
        </p:nvSpPr>
        <p:spPr>
          <a:xfrm>
            <a:off x="1499616" y="3579876"/>
            <a:ext cx="4047591" cy="713232"/>
          </a:xfrm>
          <a:prstGeom prst="rect">
            <a:avLst/>
          </a:prstGeom>
          <a:noFill/>
        </p:spPr>
        <p:txBody>
          <a:bodyPr wrap="square" lIns="0" tIns="0" rIns="0" bIns="0" anchor="t">
            <a:spAutoFit/>
          </a:bodyPr>
          <a:lstStyle/>
          <a:p>
            <a:pPr algn="l">
              <a:lnSpc>
                <a:spcPct val="120000"/>
              </a:lnSpc>
            </a:pPr>
            <a:r>
              <a:rPr sz="1300" b="0" dirty="0">
                <a:solidFill>
                  <a:srgbClr val="F2F5FA"/>
                </a:solidFill>
                <a:latin typeface="Vazirmatn"/>
                <a:ea typeface="Vazirmatn"/>
                <a:cs typeface="Vazirmatn"/>
              </a:rPr>
              <a:t>Canvas, WebGL, and audio rendering quirks</a:t>
            </a:r>
          </a:p>
        </p:txBody>
      </p:sp>
      <p:sp>
        <p:nvSpPr>
          <p:cNvPr id="13" name="Oval 12"/>
          <p:cNvSpPr/>
          <p:nvPr/>
        </p:nvSpPr>
        <p:spPr>
          <a:xfrm>
            <a:off x="1207008" y="4402836"/>
            <a:ext cx="91440" cy="91440"/>
          </a:xfrm>
          <a:prstGeom prst="ellipse">
            <a:avLst/>
          </a:prstGeom>
          <a:solidFill>
            <a:srgbClr val="5EA0F2"/>
          </a:solidFill>
          <a:ln>
            <a:noFill/>
          </a:ln>
          <a:effectLst/>
        </p:spPr>
        <p:txBody>
          <a:bodyPr rtlCol="0" anchor="ctr"/>
          <a:lstStyle/>
          <a:p>
            <a:pPr algn="ctr"/>
            <a:endParaRPr/>
          </a:p>
        </p:txBody>
      </p:sp>
      <p:sp>
        <p:nvSpPr>
          <p:cNvPr id="14" name="TextBox 13"/>
          <p:cNvSpPr txBox="1"/>
          <p:nvPr/>
        </p:nvSpPr>
        <p:spPr>
          <a:xfrm>
            <a:off x="1499616" y="4293108"/>
            <a:ext cx="4047591" cy="713232"/>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Installed fonts and extensions</a:t>
            </a:r>
          </a:p>
        </p:txBody>
      </p:sp>
      <p:sp>
        <p:nvSpPr>
          <p:cNvPr id="15" name="Oval 14"/>
          <p:cNvSpPr/>
          <p:nvPr/>
        </p:nvSpPr>
        <p:spPr>
          <a:xfrm>
            <a:off x="1207008" y="5116068"/>
            <a:ext cx="91440" cy="91440"/>
          </a:xfrm>
          <a:prstGeom prst="ellipse">
            <a:avLst/>
          </a:prstGeom>
          <a:solidFill>
            <a:srgbClr val="5EA0F2"/>
          </a:solidFill>
          <a:ln>
            <a:noFill/>
          </a:ln>
          <a:effectLst/>
        </p:spPr>
        <p:txBody>
          <a:bodyPr rtlCol="0" anchor="ctr"/>
          <a:lstStyle/>
          <a:p>
            <a:pPr algn="ctr"/>
            <a:endParaRPr/>
          </a:p>
        </p:txBody>
      </p:sp>
      <p:sp>
        <p:nvSpPr>
          <p:cNvPr id="16" name="TextBox 15"/>
          <p:cNvSpPr txBox="1"/>
          <p:nvPr/>
        </p:nvSpPr>
        <p:spPr>
          <a:xfrm>
            <a:off x="1499616" y="5006340"/>
            <a:ext cx="4047591" cy="713232"/>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Screen size, timezone, and user-agent</a:t>
            </a:r>
          </a:p>
        </p:txBody>
      </p:sp>
      <p:sp>
        <p:nvSpPr>
          <p:cNvPr id="17" name="Rounded Rectangle 16"/>
          <p:cNvSpPr/>
          <p:nvPr/>
        </p:nvSpPr>
        <p:spPr>
          <a:xfrm>
            <a:off x="6278727" y="2066544"/>
            <a:ext cx="5090007" cy="4206240"/>
          </a:xfrm>
          <a:prstGeom prst="roundRect">
            <a:avLst>
              <a:gd name="adj" fmla="val 10000"/>
            </a:avLst>
          </a:prstGeom>
          <a:solidFill>
            <a:srgbClr val="1A2130"/>
          </a:solidFill>
          <a:ln w="9525">
            <a:solidFill>
              <a:srgbClr val="2A3348"/>
            </a:solidFill>
          </a:ln>
          <a:effectLst/>
        </p:spPr>
        <p:txBody>
          <a:bodyPr rtlCol="0" anchor="ctr"/>
          <a:lstStyle/>
          <a:p>
            <a:pPr algn="ctr"/>
            <a:endParaRPr/>
          </a:p>
        </p:txBody>
      </p:sp>
      <p:sp>
        <p:nvSpPr>
          <p:cNvPr id="18" name="Rectangle 17"/>
          <p:cNvSpPr/>
          <p:nvPr/>
        </p:nvSpPr>
        <p:spPr>
          <a:xfrm>
            <a:off x="6644487" y="2450592"/>
            <a:ext cx="365760" cy="50292"/>
          </a:xfrm>
          <a:prstGeom prst="rect">
            <a:avLst/>
          </a:prstGeom>
          <a:solidFill>
            <a:srgbClr val="9FB4D8"/>
          </a:solidFill>
          <a:ln>
            <a:noFill/>
          </a:ln>
          <a:effectLst/>
        </p:spPr>
        <p:txBody>
          <a:bodyPr rtlCol="0" anchor="ctr"/>
          <a:lstStyle/>
          <a:p>
            <a:pPr algn="ctr"/>
            <a:endParaRPr/>
          </a:p>
        </p:txBody>
      </p:sp>
      <p:sp>
        <p:nvSpPr>
          <p:cNvPr id="19" name="TextBox 18"/>
          <p:cNvSpPr txBox="1"/>
          <p:nvPr/>
        </p:nvSpPr>
        <p:spPr>
          <a:xfrm>
            <a:off x="6644487" y="2615184"/>
            <a:ext cx="4358487" cy="457200"/>
          </a:xfrm>
          <a:prstGeom prst="rect">
            <a:avLst/>
          </a:prstGeom>
          <a:noFill/>
        </p:spPr>
        <p:txBody>
          <a:bodyPr wrap="square" lIns="0" tIns="0" rIns="0" bIns="0" anchor="t">
            <a:spAutoFit/>
          </a:bodyPr>
          <a:lstStyle/>
          <a:p>
            <a:pPr algn="l">
              <a:lnSpc>
                <a:spcPct val="115000"/>
              </a:lnSpc>
            </a:pPr>
            <a:r>
              <a:rPr sz="1700" b="1" dirty="0">
                <a:solidFill>
                  <a:srgbClr val="F2F5FA"/>
                </a:solidFill>
                <a:latin typeface="Vazirmatn"/>
                <a:ea typeface="Vazirmatn"/>
                <a:cs typeface="Vazirmatn"/>
              </a:rPr>
              <a:t>Why stacking defenses can backfire</a:t>
            </a:r>
          </a:p>
        </p:txBody>
      </p:sp>
      <p:sp>
        <p:nvSpPr>
          <p:cNvPr id="20" name="Oval 19"/>
          <p:cNvSpPr/>
          <p:nvPr/>
        </p:nvSpPr>
        <p:spPr>
          <a:xfrm>
            <a:off x="6662775" y="3410712"/>
            <a:ext cx="91440" cy="91440"/>
          </a:xfrm>
          <a:prstGeom prst="ellipse">
            <a:avLst/>
          </a:prstGeom>
          <a:solidFill>
            <a:srgbClr val="9FB4D8"/>
          </a:solidFill>
          <a:ln>
            <a:noFill/>
          </a:ln>
          <a:effectLst/>
        </p:spPr>
        <p:txBody>
          <a:bodyPr rtlCol="0" anchor="ctr"/>
          <a:lstStyle/>
          <a:p>
            <a:pPr algn="ctr"/>
            <a:endParaRPr/>
          </a:p>
        </p:txBody>
      </p:sp>
      <p:sp>
        <p:nvSpPr>
          <p:cNvPr id="21" name="TextBox 20"/>
          <p:cNvSpPr txBox="1"/>
          <p:nvPr/>
        </p:nvSpPr>
        <p:spPr>
          <a:xfrm>
            <a:off x="6955383" y="3300984"/>
            <a:ext cx="4047591" cy="674370"/>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Tor Browser and Mullvad Browser aim for a uniform fingerprint</a:t>
            </a:r>
          </a:p>
        </p:txBody>
      </p:sp>
      <p:sp>
        <p:nvSpPr>
          <p:cNvPr id="22" name="Oval 21"/>
          <p:cNvSpPr/>
          <p:nvPr/>
        </p:nvSpPr>
        <p:spPr>
          <a:xfrm>
            <a:off x="6662775" y="4085082"/>
            <a:ext cx="91440" cy="91440"/>
          </a:xfrm>
          <a:prstGeom prst="ellipse">
            <a:avLst/>
          </a:prstGeom>
          <a:solidFill>
            <a:srgbClr val="9FB4D8"/>
          </a:solidFill>
          <a:ln>
            <a:noFill/>
          </a:ln>
          <a:effectLst/>
        </p:spPr>
        <p:txBody>
          <a:bodyPr rtlCol="0" anchor="ctr"/>
          <a:lstStyle/>
          <a:p>
            <a:pPr algn="ctr"/>
            <a:endParaRPr/>
          </a:p>
        </p:txBody>
      </p:sp>
      <p:sp>
        <p:nvSpPr>
          <p:cNvPr id="23" name="TextBox 22"/>
          <p:cNvSpPr txBox="1"/>
          <p:nvPr/>
        </p:nvSpPr>
        <p:spPr>
          <a:xfrm>
            <a:off x="6955383" y="3975354"/>
            <a:ext cx="4047591" cy="674370"/>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Adding many unique extensions can make you stand out more</a:t>
            </a:r>
          </a:p>
        </p:txBody>
      </p:sp>
      <p:sp>
        <p:nvSpPr>
          <p:cNvPr id="24" name="Oval 23"/>
          <p:cNvSpPr/>
          <p:nvPr/>
        </p:nvSpPr>
        <p:spPr>
          <a:xfrm>
            <a:off x="6662775" y="4759452"/>
            <a:ext cx="91440" cy="91440"/>
          </a:xfrm>
          <a:prstGeom prst="ellipse">
            <a:avLst/>
          </a:prstGeom>
          <a:solidFill>
            <a:srgbClr val="9FB4D8"/>
          </a:solidFill>
          <a:ln>
            <a:noFill/>
          </a:ln>
          <a:effectLst/>
        </p:spPr>
        <p:txBody>
          <a:bodyPr rtlCol="0" anchor="ctr"/>
          <a:lstStyle/>
          <a:p>
            <a:pPr algn="ctr"/>
            <a:endParaRPr/>
          </a:p>
        </p:txBody>
      </p:sp>
      <p:sp>
        <p:nvSpPr>
          <p:cNvPr id="25" name="TextBox 24"/>
          <p:cNvSpPr txBox="1"/>
          <p:nvPr/>
        </p:nvSpPr>
        <p:spPr>
          <a:xfrm>
            <a:off x="6955383" y="4649724"/>
            <a:ext cx="4047591" cy="674370"/>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Rule: blend in, don’t stand out</a:t>
            </a:r>
          </a:p>
        </p:txBody>
      </p:sp>
      <p:sp>
        <p:nvSpPr>
          <p:cNvPr id="26" name="Oval 25"/>
          <p:cNvSpPr/>
          <p:nvPr/>
        </p:nvSpPr>
        <p:spPr>
          <a:xfrm>
            <a:off x="6662775" y="5433822"/>
            <a:ext cx="91440" cy="91440"/>
          </a:xfrm>
          <a:prstGeom prst="ellipse">
            <a:avLst/>
          </a:prstGeom>
          <a:solidFill>
            <a:srgbClr val="9FB4D8"/>
          </a:solidFill>
          <a:ln>
            <a:noFill/>
          </a:ln>
          <a:effectLst/>
        </p:spPr>
        <p:txBody>
          <a:bodyPr rtlCol="0" anchor="ctr"/>
          <a:lstStyle/>
          <a:p>
            <a:pPr algn="ctr"/>
            <a:endParaRPr/>
          </a:p>
        </p:txBody>
      </p:sp>
      <p:sp>
        <p:nvSpPr>
          <p:cNvPr id="27" name="TextBox 26"/>
          <p:cNvSpPr txBox="1"/>
          <p:nvPr/>
        </p:nvSpPr>
        <p:spPr>
          <a:xfrm>
            <a:off x="6955383" y="5324094"/>
            <a:ext cx="4047591" cy="224036"/>
          </a:xfrm>
          <a:prstGeom prst="rect">
            <a:avLst/>
          </a:prstGeom>
          <a:noFill/>
        </p:spPr>
        <p:txBody>
          <a:bodyPr wrap="square" lIns="0" tIns="0" rIns="0" bIns="0" anchor="t">
            <a:spAutoFit/>
          </a:bodyPr>
          <a:lstStyle/>
          <a:p>
            <a:pPr algn="l">
              <a:lnSpc>
                <a:spcPct val="120000"/>
              </a:lnSpc>
            </a:pPr>
            <a:r>
              <a:rPr sz="1300" b="0" dirty="0">
                <a:solidFill>
                  <a:srgbClr val="F2F5FA"/>
                </a:solidFill>
                <a:latin typeface="Vazirmatn"/>
                <a:ea typeface="Vazirmatn"/>
                <a:cs typeface="Vazirmatn"/>
              </a:rPr>
              <a:t>Homework: test at </a:t>
            </a:r>
            <a:r>
              <a:rPr sz="1300" b="1" dirty="0">
                <a:solidFill>
                  <a:srgbClr val="F2F5FA"/>
                </a:solidFill>
                <a:latin typeface="Vazirmatn"/>
                <a:ea typeface="Vazirmatn"/>
                <a:cs typeface="Vazirmatn"/>
              </a:rPr>
              <a:t>coveryourtracks.eff.org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1321308"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1321308" cy="283464"/>
          </a:xfrm>
          <a:prstGeom prst="rect">
            <a:avLst/>
          </a:prstGeom>
          <a:noFill/>
        </p:spPr>
        <p:txBody>
          <a:bodyPr wrap="square" lIns="0" tIns="0" rIns="0" bIns="0" anchor="ctr">
            <a:spAutoFit/>
          </a:bodyPr>
          <a:lstStyle/>
          <a:p>
            <a:pPr algn="ctr">
              <a:lnSpc>
                <a:spcPct val="115000"/>
              </a:lnSpc>
            </a:pPr>
            <a:r>
              <a:rPr sz="1050" b="1">
                <a:solidFill>
                  <a:srgbClr val="5EA0F2"/>
                </a:solidFill>
                <a:latin typeface="Vazirmatn"/>
                <a:ea typeface="Vazirmatn"/>
                <a:cs typeface="Vazirmatn"/>
              </a:rPr>
              <a:t>GENERATIVE AI</a:t>
            </a:r>
          </a:p>
        </p:txBody>
      </p:sp>
      <p:sp>
        <p:nvSpPr>
          <p:cNvPr id="5" name="TextBox 4"/>
          <p:cNvSpPr txBox="1"/>
          <p:nvPr/>
        </p:nvSpPr>
        <p:spPr>
          <a:xfrm>
            <a:off x="822960" y="859536"/>
            <a:ext cx="10545775" cy="713232"/>
          </a:xfrm>
          <a:prstGeom prst="rect">
            <a:avLst/>
          </a:prstGeom>
          <a:noFill/>
        </p:spPr>
        <p:txBody>
          <a:bodyPr wrap="square" lIns="0" tIns="0" rIns="0" bIns="0" anchor="t">
            <a:spAutoFit/>
          </a:bodyPr>
          <a:lstStyle/>
          <a:p>
            <a:pPr algn="l">
              <a:lnSpc>
                <a:spcPct val="105000"/>
              </a:lnSpc>
            </a:pPr>
            <a:r>
              <a:rPr sz="2800" b="0">
                <a:solidFill>
                  <a:srgbClr val="F2F5FA"/>
                </a:solidFill>
                <a:latin typeface="Vazirmatn"/>
                <a:ea typeface="Vazirmatn"/>
                <a:cs typeface="Vazirmatn"/>
              </a:rPr>
              <a:t>Treat Every AI Interaction as a Potential Data Disclosure</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8</a:t>
            </a:r>
          </a:p>
        </p:txBody>
      </p:sp>
      <p:sp>
        <p:nvSpPr>
          <p:cNvPr id="8" name="Rounded Rectangle 7"/>
          <p:cNvSpPr/>
          <p:nvPr/>
        </p:nvSpPr>
        <p:spPr>
          <a:xfrm>
            <a:off x="822960" y="5907024"/>
            <a:ext cx="10545775" cy="566928"/>
          </a:xfrm>
          <a:prstGeom prst="roundRect">
            <a:avLst>
              <a:gd name="adj" fmla="val 12000"/>
            </a:avLst>
          </a:prstGeom>
          <a:solidFill>
            <a:srgbClr val="1E3A5F"/>
          </a:solidFill>
          <a:ln>
            <a:noFill/>
          </a:ln>
          <a:effectLst/>
        </p:spPr>
        <p:txBody>
          <a:bodyPr rtlCol="0" anchor="ctr"/>
          <a:lstStyle/>
          <a:p>
            <a:pPr algn="ctr"/>
            <a:endParaRPr/>
          </a:p>
        </p:txBody>
      </p:sp>
      <p:pic>
        <p:nvPicPr>
          <p:cNvPr id="9" name="Picture 8" descr="sticky_note_2_5EA0F2.png"/>
          <p:cNvPicPr>
            <a:picLocks noChangeAspect="1"/>
          </p:cNvPicPr>
          <p:nvPr/>
        </p:nvPicPr>
        <p:blipFill>
          <a:blip r:embed="rId3"/>
          <a:stretch>
            <a:fillRect/>
          </a:stretch>
        </p:blipFill>
        <p:spPr>
          <a:xfrm>
            <a:off x="1051560" y="6053328"/>
            <a:ext cx="274320" cy="274320"/>
          </a:xfrm>
          <a:prstGeom prst="rect">
            <a:avLst/>
          </a:prstGeom>
        </p:spPr>
      </p:pic>
      <p:sp>
        <p:nvSpPr>
          <p:cNvPr id="10" name="TextBox 9"/>
          <p:cNvSpPr txBox="1"/>
          <p:nvPr/>
        </p:nvSpPr>
        <p:spPr>
          <a:xfrm>
            <a:off x="1508760" y="5907024"/>
            <a:ext cx="9631375" cy="566928"/>
          </a:xfrm>
          <a:prstGeom prst="rect">
            <a:avLst/>
          </a:prstGeom>
          <a:noFill/>
        </p:spPr>
        <p:txBody>
          <a:bodyPr wrap="square" lIns="0" tIns="0" rIns="0" bIns="0" anchor="ctr">
            <a:spAutoFit/>
          </a:bodyPr>
          <a:lstStyle/>
          <a:p>
            <a:pPr algn="l">
              <a:lnSpc>
                <a:spcPct val="115000"/>
              </a:lnSpc>
            </a:pPr>
            <a:r>
              <a:rPr sz="1300" b="1">
                <a:solidFill>
                  <a:srgbClr val="F2F5FA"/>
                </a:solidFill>
                <a:latin typeface="Vazirmatn"/>
                <a:ea typeface="Vazirmatn"/>
                <a:cs typeface="Vazirmatn"/>
              </a:rPr>
              <a:t>If you’re not paying for the AI, your data is the payment.</a:t>
            </a:r>
          </a:p>
        </p:txBody>
      </p:sp>
      <p:sp>
        <p:nvSpPr>
          <p:cNvPr id="11" name="Rectangle 10"/>
          <p:cNvSpPr/>
          <p:nvPr/>
        </p:nvSpPr>
        <p:spPr>
          <a:xfrm>
            <a:off x="822960" y="2066544"/>
            <a:ext cx="5112867" cy="1668780"/>
          </a:xfrm>
          <a:prstGeom prst="rect">
            <a:avLst/>
          </a:prstGeom>
          <a:solidFill>
            <a:srgbClr val="1A2130"/>
          </a:solidFill>
          <a:ln w="9525">
            <a:solidFill>
              <a:srgbClr val="2A3348"/>
            </a:solidFill>
          </a:ln>
          <a:effectLst/>
        </p:spPr>
        <p:txBody>
          <a:bodyPr rtlCol="0" anchor="ctr"/>
          <a:lstStyle/>
          <a:p>
            <a:pPr algn="ctr"/>
            <a:endParaRPr/>
          </a:p>
        </p:txBody>
      </p:sp>
      <p:sp>
        <p:nvSpPr>
          <p:cNvPr id="12" name="Rectangle 11"/>
          <p:cNvSpPr/>
          <p:nvPr/>
        </p:nvSpPr>
        <p:spPr>
          <a:xfrm>
            <a:off x="822960" y="2066544"/>
            <a:ext cx="82296" cy="1668780"/>
          </a:xfrm>
          <a:prstGeom prst="rect">
            <a:avLst/>
          </a:prstGeom>
          <a:solidFill>
            <a:srgbClr val="5EA0F2"/>
          </a:solidFill>
          <a:ln>
            <a:noFill/>
          </a:ln>
          <a:effectLst/>
        </p:spPr>
        <p:txBody>
          <a:bodyPr rtlCol="0" anchor="ctr"/>
          <a:lstStyle/>
          <a:p>
            <a:pPr algn="ctr"/>
            <a:endParaRPr/>
          </a:p>
        </p:txBody>
      </p:sp>
      <p:sp>
        <p:nvSpPr>
          <p:cNvPr id="13" name="TextBox 12"/>
          <p:cNvSpPr txBox="1"/>
          <p:nvPr/>
        </p:nvSpPr>
        <p:spPr>
          <a:xfrm>
            <a:off x="1143000" y="2340864"/>
            <a:ext cx="4472787" cy="457200"/>
          </a:xfrm>
          <a:prstGeom prst="rect">
            <a:avLst/>
          </a:prstGeom>
          <a:noFill/>
        </p:spPr>
        <p:txBody>
          <a:bodyPr wrap="square" lIns="0" tIns="0" rIns="0" bIns="0" anchor="t">
            <a:spAutoFit/>
          </a:bodyPr>
          <a:lstStyle/>
          <a:p>
            <a:pPr algn="l">
              <a:lnSpc>
                <a:spcPct val="115000"/>
              </a:lnSpc>
            </a:pPr>
            <a:r>
              <a:rPr sz="1600" b="1">
                <a:solidFill>
                  <a:srgbClr val="F2F5FA"/>
                </a:solidFill>
                <a:latin typeface="Vazirmatn"/>
                <a:ea typeface="Vazirmatn"/>
                <a:cs typeface="Vazirmatn"/>
              </a:rPr>
              <a:t>Prompts are data</a:t>
            </a:r>
          </a:p>
        </p:txBody>
      </p:sp>
      <p:sp>
        <p:nvSpPr>
          <p:cNvPr id="14" name="TextBox 13"/>
          <p:cNvSpPr txBox="1"/>
          <p:nvPr/>
        </p:nvSpPr>
        <p:spPr>
          <a:xfrm>
            <a:off x="1143000" y="2871216"/>
            <a:ext cx="4472787" cy="662940"/>
          </a:xfrm>
          <a:prstGeom prst="rect">
            <a:avLst/>
          </a:prstGeom>
          <a:noFill/>
        </p:spPr>
        <p:txBody>
          <a:bodyPr wrap="square" lIns="0" tIns="0" rIns="0" bIns="0" anchor="t">
            <a:spAutoFit/>
          </a:bodyPr>
          <a:lstStyle/>
          <a:p>
            <a:pPr algn="l">
              <a:lnSpc>
                <a:spcPct val="130000"/>
              </a:lnSpc>
            </a:pPr>
            <a:r>
              <a:rPr sz="1250" b="0">
                <a:solidFill>
                  <a:srgbClr val="8A94A8"/>
                </a:solidFill>
                <a:latin typeface="Vazirmatn"/>
                <a:ea typeface="Vazirmatn"/>
                <a:cs typeface="Vazirmatn"/>
              </a:rPr>
              <a:t>What you paste can be logged, reviewed, or retained—check each provider’s policy, which varies by plan and workspace.</a:t>
            </a:r>
          </a:p>
        </p:txBody>
      </p:sp>
      <p:sp>
        <p:nvSpPr>
          <p:cNvPr id="15" name="Rectangle 14"/>
          <p:cNvSpPr/>
          <p:nvPr/>
        </p:nvSpPr>
        <p:spPr>
          <a:xfrm>
            <a:off x="6255867" y="2066544"/>
            <a:ext cx="5112867" cy="1668780"/>
          </a:xfrm>
          <a:prstGeom prst="rect">
            <a:avLst/>
          </a:prstGeom>
          <a:solidFill>
            <a:srgbClr val="1A2130"/>
          </a:solidFill>
          <a:ln w="9525">
            <a:solidFill>
              <a:srgbClr val="2A3348"/>
            </a:solidFill>
          </a:ln>
          <a:effectLst/>
        </p:spPr>
        <p:txBody>
          <a:bodyPr rtlCol="0" anchor="ctr"/>
          <a:lstStyle/>
          <a:p>
            <a:pPr algn="ctr"/>
            <a:endParaRPr/>
          </a:p>
        </p:txBody>
      </p:sp>
      <p:sp>
        <p:nvSpPr>
          <p:cNvPr id="16" name="Rectangle 15"/>
          <p:cNvSpPr/>
          <p:nvPr/>
        </p:nvSpPr>
        <p:spPr>
          <a:xfrm>
            <a:off x="6255867" y="2066544"/>
            <a:ext cx="82296" cy="1668780"/>
          </a:xfrm>
          <a:prstGeom prst="rect">
            <a:avLst/>
          </a:prstGeom>
          <a:solidFill>
            <a:srgbClr val="5EA0F2"/>
          </a:solidFill>
          <a:ln>
            <a:noFill/>
          </a:ln>
          <a:effectLst/>
        </p:spPr>
        <p:txBody>
          <a:bodyPr rtlCol="0" anchor="ctr"/>
          <a:lstStyle/>
          <a:p>
            <a:pPr algn="ctr"/>
            <a:endParaRPr/>
          </a:p>
        </p:txBody>
      </p:sp>
      <p:sp>
        <p:nvSpPr>
          <p:cNvPr id="17" name="TextBox 16"/>
          <p:cNvSpPr txBox="1"/>
          <p:nvPr/>
        </p:nvSpPr>
        <p:spPr>
          <a:xfrm>
            <a:off x="6575907" y="2340864"/>
            <a:ext cx="4472787" cy="457200"/>
          </a:xfrm>
          <a:prstGeom prst="rect">
            <a:avLst/>
          </a:prstGeom>
          <a:noFill/>
        </p:spPr>
        <p:txBody>
          <a:bodyPr wrap="square" lIns="0" tIns="0" rIns="0" bIns="0" anchor="t">
            <a:spAutoFit/>
          </a:bodyPr>
          <a:lstStyle/>
          <a:p>
            <a:pPr algn="l">
              <a:lnSpc>
                <a:spcPct val="115000"/>
              </a:lnSpc>
            </a:pPr>
            <a:r>
              <a:rPr sz="1600" b="1">
                <a:solidFill>
                  <a:srgbClr val="F2F5FA"/>
                </a:solidFill>
                <a:latin typeface="Vazirmatn"/>
                <a:ea typeface="Vazirmatn"/>
                <a:cs typeface="Vazirmatn"/>
              </a:rPr>
              <a:t>Telemetry persists</a:t>
            </a:r>
          </a:p>
        </p:txBody>
      </p:sp>
      <p:sp>
        <p:nvSpPr>
          <p:cNvPr id="18" name="TextBox 17"/>
          <p:cNvSpPr txBox="1"/>
          <p:nvPr/>
        </p:nvSpPr>
        <p:spPr>
          <a:xfrm>
            <a:off x="6575907" y="2871216"/>
            <a:ext cx="4472787" cy="662940"/>
          </a:xfrm>
          <a:prstGeom prst="rect">
            <a:avLst/>
          </a:prstGeom>
          <a:noFill/>
        </p:spPr>
        <p:txBody>
          <a:bodyPr wrap="square" lIns="0" tIns="0" rIns="0" bIns="0" anchor="t">
            <a:spAutoFit/>
          </a:bodyPr>
          <a:lstStyle/>
          <a:p>
            <a:pPr algn="l">
              <a:lnSpc>
                <a:spcPct val="130000"/>
              </a:lnSpc>
            </a:pPr>
            <a:r>
              <a:rPr sz="1250" b="0">
                <a:solidFill>
                  <a:srgbClr val="8A94A8"/>
                </a:solidFill>
                <a:latin typeface="Vazirmatn"/>
                <a:ea typeface="Vazirmatn"/>
                <a:cs typeface="Vazirmatn"/>
              </a:rPr>
              <a:t>Even opt-outs and temporary chats can leave a short retention window for safety purposes.</a:t>
            </a:r>
          </a:p>
        </p:txBody>
      </p:sp>
      <p:sp>
        <p:nvSpPr>
          <p:cNvPr id="19" name="Rectangle 18"/>
          <p:cNvSpPr/>
          <p:nvPr/>
        </p:nvSpPr>
        <p:spPr>
          <a:xfrm>
            <a:off x="822960" y="4055364"/>
            <a:ext cx="5112867" cy="1668780"/>
          </a:xfrm>
          <a:prstGeom prst="rect">
            <a:avLst/>
          </a:prstGeom>
          <a:solidFill>
            <a:srgbClr val="1A2130"/>
          </a:solidFill>
          <a:ln w="9525">
            <a:solidFill>
              <a:srgbClr val="2A3348"/>
            </a:solidFill>
          </a:ln>
          <a:effectLst/>
        </p:spPr>
        <p:txBody>
          <a:bodyPr rtlCol="0" anchor="ctr"/>
          <a:lstStyle/>
          <a:p>
            <a:pPr algn="ctr"/>
            <a:endParaRPr/>
          </a:p>
        </p:txBody>
      </p:sp>
      <p:sp>
        <p:nvSpPr>
          <p:cNvPr id="20" name="Rectangle 19"/>
          <p:cNvSpPr/>
          <p:nvPr/>
        </p:nvSpPr>
        <p:spPr>
          <a:xfrm>
            <a:off x="822960" y="4055364"/>
            <a:ext cx="82296" cy="1668780"/>
          </a:xfrm>
          <a:prstGeom prst="rect">
            <a:avLst/>
          </a:prstGeom>
          <a:solidFill>
            <a:srgbClr val="5EA0F2"/>
          </a:solidFill>
          <a:ln>
            <a:noFill/>
          </a:ln>
          <a:effectLst/>
        </p:spPr>
        <p:txBody>
          <a:bodyPr rtlCol="0" anchor="ctr"/>
          <a:lstStyle/>
          <a:p>
            <a:pPr algn="ctr"/>
            <a:endParaRPr/>
          </a:p>
        </p:txBody>
      </p:sp>
      <p:sp>
        <p:nvSpPr>
          <p:cNvPr id="21" name="TextBox 20"/>
          <p:cNvSpPr txBox="1"/>
          <p:nvPr/>
        </p:nvSpPr>
        <p:spPr>
          <a:xfrm>
            <a:off x="1143000" y="4329684"/>
            <a:ext cx="4472787" cy="457200"/>
          </a:xfrm>
          <a:prstGeom prst="rect">
            <a:avLst/>
          </a:prstGeom>
          <a:noFill/>
        </p:spPr>
        <p:txBody>
          <a:bodyPr wrap="square" lIns="0" tIns="0" rIns="0" bIns="0" anchor="t">
            <a:spAutoFit/>
          </a:bodyPr>
          <a:lstStyle/>
          <a:p>
            <a:pPr algn="l">
              <a:lnSpc>
                <a:spcPct val="115000"/>
              </a:lnSpc>
            </a:pPr>
            <a:r>
              <a:rPr sz="1600" b="1">
                <a:solidFill>
                  <a:srgbClr val="F2F5FA"/>
                </a:solidFill>
                <a:latin typeface="Vazirmatn"/>
                <a:ea typeface="Vazirmatn"/>
                <a:cs typeface="Vazirmatn"/>
              </a:rPr>
              <a:t>Prompt injection</a:t>
            </a:r>
          </a:p>
        </p:txBody>
      </p:sp>
      <p:sp>
        <p:nvSpPr>
          <p:cNvPr id="22" name="TextBox 21"/>
          <p:cNvSpPr txBox="1"/>
          <p:nvPr/>
        </p:nvSpPr>
        <p:spPr>
          <a:xfrm>
            <a:off x="1143000" y="4860036"/>
            <a:ext cx="4472787" cy="662940"/>
          </a:xfrm>
          <a:prstGeom prst="rect">
            <a:avLst/>
          </a:prstGeom>
          <a:noFill/>
        </p:spPr>
        <p:txBody>
          <a:bodyPr wrap="square" lIns="0" tIns="0" rIns="0" bIns="0" anchor="t">
            <a:spAutoFit/>
          </a:bodyPr>
          <a:lstStyle/>
          <a:p>
            <a:pPr algn="l">
              <a:lnSpc>
                <a:spcPct val="130000"/>
              </a:lnSpc>
            </a:pPr>
            <a:r>
              <a:rPr sz="1250" b="0">
                <a:solidFill>
                  <a:srgbClr val="8A94A8"/>
                </a:solidFill>
                <a:latin typeface="Vazirmatn"/>
                <a:ea typeface="Vazirmatn"/>
                <a:cs typeface="Vazirmatn"/>
              </a:rPr>
              <a:t>Untrusted content can steer an assistant to reveal or act on exposed data.</a:t>
            </a:r>
          </a:p>
        </p:txBody>
      </p:sp>
      <p:sp>
        <p:nvSpPr>
          <p:cNvPr id="23" name="Rectangle 22"/>
          <p:cNvSpPr/>
          <p:nvPr/>
        </p:nvSpPr>
        <p:spPr>
          <a:xfrm>
            <a:off x="6255867" y="4055364"/>
            <a:ext cx="5112867" cy="1668780"/>
          </a:xfrm>
          <a:prstGeom prst="rect">
            <a:avLst/>
          </a:prstGeom>
          <a:solidFill>
            <a:srgbClr val="1A2130"/>
          </a:solidFill>
          <a:ln w="9525">
            <a:solidFill>
              <a:srgbClr val="2A3348"/>
            </a:solidFill>
          </a:ln>
          <a:effectLst/>
        </p:spPr>
        <p:txBody>
          <a:bodyPr rtlCol="0" anchor="ctr"/>
          <a:lstStyle/>
          <a:p>
            <a:pPr algn="ctr"/>
            <a:endParaRPr/>
          </a:p>
        </p:txBody>
      </p:sp>
      <p:sp>
        <p:nvSpPr>
          <p:cNvPr id="24" name="Rectangle 23"/>
          <p:cNvSpPr/>
          <p:nvPr/>
        </p:nvSpPr>
        <p:spPr>
          <a:xfrm>
            <a:off x="6255867" y="4055364"/>
            <a:ext cx="82296" cy="1668780"/>
          </a:xfrm>
          <a:prstGeom prst="rect">
            <a:avLst/>
          </a:prstGeom>
          <a:solidFill>
            <a:srgbClr val="5EA0F2"/>
          </a:solidFill>
          <a:ln>
            <a:noFill/>
          </a:ln>
          <a:effectLst/>
        </p:spPr>
        <p:txBody>
          <a:bodyPr rtlCol="0" anchor="ctr"/>
          <a:lstStyle/>
          <a:p>
            <a:pPr algn="ctr"/>
            <a:endParaRPr/>
          </a:p>
        </p:txBody>
      </p:sp>
      <p:sp>
        <p:nvSpPr>
          <p:cNvPr id="25" name="TextBox 24"/>
          <p:cNvSpPr txBox="1"/>
          <p:nvPr/>
        </p:nvSpPr>
        <p:spPr>
          <a:xfrm>
            <a:off x="6575907" y="4329684"/>
            <a:ext cx="4472787" cy="457200"/>
          </a:xfrm>
          <a:prstGeom prst="rect">
            <a:avLst/>
          </a:prstGeom>
          <a:noFill/>
        </p:spPr>
        <p:txBody>
          <a:bodyPr wrap="square" lIns="0" tIns="0" rIns="0" bIns="0" anchor="t">
            <a:spAutoFit/>
          </a:bodyPr>
          <a:lstStyle/>
          <a:p>
            <a:pPr algn="l">
              <a:lnSpc>
                <a:spcPct val="115000"/>
              </a:lnSpc>
            </a:pPr>
            <a:r>
              <a:rPr sz="1600" b="1">
                <a:solidFill>
                  <a:srgbClr val="F2F5FA"/>
                </a:solidFill>
                <a:latin typeface="Vazirmatn"/>
                <a:ea typeface="Vazirmatn"/>
                <a:cs typeface="Vazirmatn"/>
              </a:rPr>
              <a:t>Local alternatives</a:t>
            </a:r>
          </a:p>
        </p:txBody>
      </p:sp>
      <p:sp>
        <p:nvSpPr>
          <p:cNvPr id="26" name="TextBox 25"/>
          <p:cNvSpPr txBox="1"/>
          <p:nvPr/>
        </p:nvSpPr>
        <p:spPr>
          <a:xfrm>
            <a:off x="6575907" y="4860036"/>
            <a:ext cx="4472787" cy="662940"/>
          </a:xfrm>
          <a:prstGeom prst="rect">
            <a:avLst/>
          </a:prstGeom>
          <a:noFill/>
        </p:spPr>
        <p:txBody>
          <a:bodyPr wrap="square" lIns="0" tIns="0" rIns="0" bIns="0" anchor="t">
            <a:spAutoFit/>
          </a:bodyPr>
          <a:lstStyle/>
          <a:p>
            <a:pPr algn="l">
              <a:lnSpc>
                <a:spcPct val="130000"/>
              </a:lnSpc>
            </a:pPr>
            <a:r>
              <a:rPr sz="1250" b="0">
                <a:solidFill>
                  <a:srgbClr val="8A94A8"/>
                </a:solidFill>
                <a:latin typeface="Vazirmatn"/>
                <a:ea typeface="Vazirmatn"/>
                <a:cs typeface="Vazirmatn"/>
              </a:rPr>
              <a:t>Tools like Ollama run models on your own machine or an air-gapped system for sensitive work.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1399032"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1399032" cy="283464"/>
          </a:xfrm>
          <a:prstGeom prst="rect">
            <a:avLst/>
          </a:prstGeom>
          <a:noFill/>
        </p:spPr>
        <p:txBody>
          <a:bodyPr wrap="square" lIns="0" tIns="0" rIns="0" bIns="0" anchor="ctr">
            <a:spAutoFit/>
          </a:bodyPr>
          <a:lstStyle/>
          <a:p>
            <a:pPr algn="ctr">
              <a:lnSpc>
                <a:spcPct val="115000"/>
              </a:lnSpc>
            </a:pPr>
            <a:r>
              <a:rPr sz="1050" b="1">
                <a:solidFill>
                  <a:srgbClr val="5EA0F2"/>
                </a:solidFill>
                <a:latin typeface="Vazirmatn"/>
                <a:ea typeface="Vazirmatn"/>
                <a:cs typeface="Vazirmatn"/>
              </a:rPr>
              <a:t>NEXT-GEN OSINT</a:t>
            </a:r>
          </a:p>
        </p:txBody>
      </p:sp>
      <p:sp>
        <p:nvSpPr>
          <p:cNvPr id="5" name="TextBox 4"/>
          <p:cNvSpPr txBox="1"/>
          <p:nvPr/>
        </p:nvSpPr>
        <p:spPr>
          <a:xfrm>
            <a:off x="822960" y="859536"/>
            <a:ext cx="10545775" cy="372090"/>
          </a:xfrm>
          <a:prstGeom prst="rect">
            <a:avLst/>
          </a:prstGeom>
          <a:noFill/>
        </p:spPr>
        <p:txBody>
          <a:bodyPr wrap="square" lIns="0" tIns="0" rIns="0" bIns="0" anchor="t">
            <a:spAutoFit/>
          </a:bodyPr>
          <a:lstStyle/>
          <a:p>
            <a:pPr algn="l">
              <a:lnSpc>
                <a:spcPct val="105000"/>
              </a:lnSpc>
            </a:pPr>
            <a:r>
              <a:rPr sz="2400" b="0" dirty="0">
                <a:solidFill>
                  <a:srgbClr val="F2F5FA"/>
                </a:solidFill>
                <a:latin typeface="Vazirmatn"/>
                <a:ea typeface="Vazirmatn"/>
                <a:cs typeface="Vazirmatn"/>
              </a:rPr>
              <a:t>AI Makes Cross-Platform Identity Correlation Faster</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9</a:t>
            </a:r>
          </a:p>
        </p:txBody>
      </p:sp>
      <p:sp>
        <p:nvSpPr>
          <p:cNvPr id="8" name="Rounded Rectangle 7"/>
          <p:cNvSpPr/>
          <p:nvPr/>
        </p:nvSpPr>
        <p:spPr>
          <a:xfrm>
            <a:off x="1280160" y="2066544"/>
            <a:ext cx="4980279" cy="1888236"/>
          </a:xfrm>
          <a:prstGeom prst="roundRect">
            <a:avLst>
              <a:gd name="adj" fmla="val 8000"/>
            </a:avLst>
          </a:prstGeom>
          <a:solidFill>
            <a:srgbClr val="1E3A5F"/>
          </a:solidFill>
          <a:ln w="9525">
            <a:solidFill>
              <a:srgbClr val="2A3348"/>
            </a:solidFill>
          </a:ln>
          <a:effectLst/>
        </p:spPr>
        <p:txBody>
          <a:bodyPr rtlCol="0" anchor="ctr"/>
          <a:lstStyle/>
          <a:p>
            <a:pPr algn="ctr"/>
            <a:endParaRPr/>
          </a:p>
        </p:txBody>
      </p:sp>
      <p:sp>
        <p:nvSpPr>
          <p:cNvPr id="9" name="TextBox 8"/>
          <p:cNvSpPr txBox="1"/>
          <p:nvPr/>
        </p:nvSpPr>
        <p:spPr>
          <a:xfrm>
            <a:off x="1554480" y="2267712"/>
            <a:ext cx="4431639" cy="411480"/>
          </a:xfrm>
          <a:prstGeom prst="rect">
            <a:avLst/>
          </a:prstGeom>
          <a:noFill/>
        </p:spPr>
        <p:txBody>
          <a:bodyPr wrap="square" lIns="0" tIns="0" rIns="0" bIns="0" anchor="t">
            <a:spAutoFit/>
          </a:bodyPr>
          <a:lstStyle/>
          <a:p>
            <a:pPr algn="l">
              <a:lnSpc>
                <a:spcPct val="115000"/>
              </a:lnSpc>
            </a:pPr>
            <a:r>
              <a:rPr sz="1500" b="1">
                <a:solidFill>
                  <a:srgbClr val="F2F5FA"/>
                </a:solidFill>
                <a:latin typeface="Vazirmatn"/>
                <a:ea typeface="Vazirmatn"/>
                <a:cs typeface="Vazirmatn"/>
              </a:rPr>
              <a:t>Face search</a:t>
            </a:r>
          </a:p>
        </p:txBody>
      </p:sp>
      <p:sp>
        <p:nvSpPr>
          <p:cNvPr id="10" name="TextBox 9"/>
          <p:cNvSpPr txBox="1"/>
          <p:nvPr/>
        </p:nvSpPr>
        <p:spPr>
          <a:xfrm>
            <a:off x="1554480" y="2724912"/>
            <a:ext cx="4431639" cy="1019556"/>
          </a:xfrm>
          <a:prstGeom prst="rect">
            <a:avLst/>
          </a:prstGeom>
          <a:noFill/>
        </p:spPr>
        <p:txBody>
          <a:bodyPr wrap="square" lIns="0" tIns="0" rIns="0" bIns="0" anchor="t">
            <a:spAutoFit/>
          </a:bodyPr>
          <a:lstStyle/>
          <a:p>
            <a:pPr algn="l">
              <a:lnSpc>
                <a:spcPct val="125000"/>
              </a:lnSpc>
            </a:pPr>
            <a:r>
              <a:rPr sz="1150" b="0">
                <a:solidFill>
                  <a:srgbClr val="8A94A8"/>
                </a:solidFill>
                <a:latin typeface="Vazirmatn"/>
                <a:ea typeface="Vazirmatn"/>
                <a:cs typeface="Vazirmatn"/>
              </a:rPr>
              <a:t>PimEyes searches the open web for images containing a face; treat matches as leads, not proof.</a:t>
            </a:r>
          </a:p>
        </p:txBody>
      </p:sp>
      <p:sp>
        <p:nvSpPr>
          <p:cNvPr id="11" name="Rounded Rectangle 10"/>
          <p:cNvSpPr/>
          <p:nvPr/>
        </p:nvSpPr>
        <p:spPr>
          <a:xfrm>
            <a:off x="6388455" y="2066544"/>
            <a:ext cx="4980279" cy="1888236"/>
          </a:xfrm>
          <a:prstGeom prst="roundRect">
            <a:avLst>
              <a:gd name="adj" fmla="val 8000"/>
            </a:avLst>
          </a:prstGeom>
          <a:solidFill>
            <a:srgbClr val="1A2130"/>
          </a:solidFill>
          <a:ln w="9525">
            <a:solidFill>
              <a:srgbClr val="2A3348"/>
            </a:solidFill>
          </a:ln>
          <a:effectLst/>
        </p:spPr>
        <p:txBody>
          <a:bodyPr rtlCol="0" anchor="ctr"/>
          <a:lstStyle/>
          <a:p>
            <a:pPr algn="ctr"/>
            <a:endParaRPr/>
          </a:p>
        </p:txBody>
      </p:sp>
      <p:sp>
        <p:nvSpPr>
          <p:cNvPr id="12" name="TextBox 11"/>
          <p:cNvSpPr txBox="1"/>
          <p:nvPr/>
        </p:nvSpPr>
        <p:spPr>
          <a:xfrm>
            <a:off x="6662775" y="2267712"/>
            <a:ext cx="4431639" cy="411480"/>
          </a:xfrm>
          <a:prstGeom prst="rect">
            <a:avLst/>
          </a:prstGeom>
          <a:noFill/>
        </p:spPr>
        <p:txBody>
          <a:bodyPr wrap="square" lIns="0" tIns="0" rIns="0" bIns="0" anchor="t">
            <a:spAutoFit/>
          </a:bodyPr>
          <a:lstStyle/>
          <a:p>
            <a:pPr algn="l">
              <a:lnSpc>
                <a:spcPct val="115000"/>
              </a:lnSpc>
            </a:pPr>
            <a:r>
              <a:rPr sz="1500" b="1">
                <a:solidFill>
                  <a:srgbClr val="F2F5FA"/>
                </a:solidFill>
                <a:latin typeface="Vazirmatn"/>
                <a:ea typeface="Vazirmatn"/>
                <a:cs typeface="Vazirmatn"/>
              </a:rPr>
              <a:t>Multimodal linking</a:t>
            </a:r>
          </a:p>
        </p:txBody>
      </p:sp>
      <p:sp>
        <p:nvSpPr>
          <p:cNvPr id="13" name="TextBox 12"/>
          <p:cNvSpPr txBox="1"/>
          <p:nvPr/>
        </p:nvSpPr>
        <p:spPr>
          <a:xfrm>
            <a:off x="6662775" y="2724912"/>
            <a:ext cx="4431639" cy="1019556"/>
          </a:xfrm>
          <a:prstGeom prst="rect">
            <a:avLst/>
          </a:prstGeom>
          <a:noFill/>
        </p:spPr>
        <p:txBody>
          <a:bodyPr wrap="square" lIns="0" tIns="0" rIns="0" bIns="0" anchor="t">
            <a:spAutoFit/>
          </a:bodyPr>
          <a:lstStyle/>
          <a:p>
            <a:pPr algn="l">
              <a:lnSpc>
                <a:spcPct val="125000"/>
              </a:lnSpc>
            </a:pPr>
            <a:r>
              <a:rPr sz="1150" b="0" dirty="0">
                <a:solidFill>
                  <a:srgbClr val="8A94A8"/>
                </a:solidFill>
                <a:latin typeface="Vazirmatn"/>
                <a:ea typeface="Vazirmatn"/>
                <a:cs typeface="Vazirmatn"/>
              </a:rPr>
              <a:t>A photo, voice clip, and public profile can reinforce one another.</a:t>
            </a:r>
          </a:p>
        </p:txBody>
      </p:sp>
      <p:sp>
        <p:nvSpPr>
          <p:cNvPr id="14" name="Rounded Rectangle 13"/>
          <p:cNvSpPr/>
          <p:nvPr/>
        </p:nvSpPr>
        <p:spPr>
          <a:xfrm>
            <a:off x="1280160" y="4082796"/>
            <a:ext cx="4980279" cy="1888236"/>
          </a:xfrm>
          <a:prstGeom prst="roundRect">
            <a:avLst>
              <a:gd name="adj" fmla="val 8000"/>
            </a:avLst>
          </a:prstGeom>
          <a:solidFill>
            <a:srgbClr val="1A2130"/>
          </a:solidFill>
          <a:ln w="9525">
            <a:solidFill>
              <a:srgbClr val="2A3348"/>
            </a:solidFill>
          </a:ln>
          <a:effectLst/>
        </p:spPr>
        <p:txBody>
          <a:bodyPr rtlCol="0" anchor="ctr"/>
          <a:lstStyle/>
          <a:p>
            <a:pPr algn="ctr"/>
            <a:endParaRPr/>
          </a:p>
        </p:txBody>
      </p:sp>
      <p:sp>
        <p:nvSpPr>
          <p:cNvPr id="15" name="TextBox 14"/>
          <p:cNvSpPr txBox="1"/>
          <p:nvPr/>
        </p:nvSpPr>
        <p:spPr>
          <a:xfrm>
            <a:off x="1554480" y="4283964"/>
            <a:ext cx="4431639" cy="411480"/>
          </a:xfrm>
          <a:prstGeom prst="rect">
            <a:avLst/>
          </a:prstGeom>
          <a:noFill/>
        </p:spPr>
        <p:txBody>
          <a:bodyPr wrap="square" lIns="0" tIns="0" rIns="0" bIns="0" anchor="t">
            <a:spAutoFit/>
          </a:bodyPr>
          <a:lstStyle/>
          <a:p>
            <a:pPr algn="l">
              <a:lnSpc>
                <a:spcPct val="115000"/>
              </a:lnSpc>
            </a:pPr>
            <a:r>
              <a:rPr sz="1500" b="1">
                <a:solidFill>
                  <a:srgbClr val="F2F5FA"/>
                </a:solidFill>
                <a:latin typeface="Vazirmatn"/>
                <a:ea typeface="Vazirmatn"/>
                <a:cs typeface="Vazirmatn"/>
              </a:rPr>
              <a:t>Stylometry</a:t>
            </a:r>
          </a:p>
        </p:txBody>
      </p:sp>
      <p:sp>
        <p:nvSpPr>
          <p:cNvPr id="16" name="TextBox 15"/>
          <p:cNvSpPr txBox="1"/>
          <p:nvPr/>
        </p:nvSpPr>
        <p:spPr>
          <a:xfrm>
            <a:off x="1554480" y="4741164"/>
            <a:ext cx="4431639" cy="1019556"/>
          </a:xfrm>
          <a:prstGeom prst="rect">
            <a:avLst/>
          </a:prstGeom>
          <a:noFill/>
        </p:spPr>
        <p:txBody>
          <a:bodyPr wrap="square" lIns="0" tIns="0" rIns="0" bIns="0" anchor="t">
            <a:spAutoFit/>
          </a:bodyPr>
          <a:lstStyle/>
          <a:p>
            <a:pPr algn="l">
              <a:lnSpc>
                <a:spcPct val="125000"/>
              </a:lnSpc>
            </a:pPr>
            <a:r>
              <a:rPr sz="1150" b="0">
                <a:solidFill>
                  <a:srgbClr val="8A94A8"/>
                </a:solidFill>
                <a:latin typeface="Vazirmatn"/>
                <a:ea typeface="Vazirmatn"/>
                <a:cs typeface="Vazirmatn"/>
              </a:rPr>
              <a:t>Writing-style analysis can suggest a link, but it is not proof of identity.</a:t>
            </a:r>
          </a:p>
        </p:txBody>
      </p:sp>
      <p:sp>
        <p:nvSpPr>
          <p:cNvPr id="17" name="Rounded Rectangle 16"/>
          <p:cNvSpPr/>
          <p:nvPr/>
        </p:nvSpPr>
        <p:spPr>
          <a:xfrm>
            <a:off x="6388455" y="4082796"/>
            <a:ext cx="4980279" cy="1888236"/>
          </a:xfrm>
          <a:prstGeom prst="roundRect">
            <a:avLst>
              <a:gd name="adj" fmla="val 8000"/>
            </a:avLst>
          </a:prstGeom>
          <a:solidFill>
            <a:srgbClr val="212A3D"/>
          </a:solidFill>
          <a:ln w="9525">
            <a:solidFill>
              <a:srgbClr val="2A3348"/>
            </a:solidFill>
          </a:ln>
          <a:effectLst/>
        </p:spPr>
        <p:txBody>
          <a:bodyPr rtlCol="0" anchor="ctr"/>
          <a:lstStyle/>
          <a:p>
            <a:pPr algn="ctr"/>
            <a:endParaRPr/>
          </a:p>
        </p:txBody>
      </p:sp>
      <p:sp>
        <p:nvSpPr>
          <p:cNvPr id="18" name="TextBox 17"/>
          <p:cNvSpPr txBox="1"/>
          <p:nvPr/>
        </p:nvSpPr>
        <p:spPr>
          <a:xfrm>
            <a:off x="6662775" y="4283964"/>
            <a:ext cx="4431639" cy="411480"/>
          </a:xfrm>
          <a:prstGeom prst="rect">
            <a:avLst/>
          </a:prstGeom>
          <a:noFill/>
        </p:spPr>
        <p:txBody>
          <a:bodyPr wrap="square" lIns="0" tIns="0" rIns="0" bIns="0" anchor="t">
            <a:spAutoFit/>
          </a:bodyPr>
          <a:lstStyle/>
          <a:p>
            <a:pPr algn="l">
              <a:lnSpc>
                <a:spcPct val="115000"/>
              </a:lnSpc>
            </a:pPr>
            <a:r>
              <a:rPr sz="1500" b="1">
                <a:solidFill>
                  <a:srgbClr val="F2F5FA"/>
                </a:solidFill>
                <a:latin typeface="Vazirmatn"/>
                <a:ea typeface="Vazirmatn"/>
                <a:cs typeface="Vazirmatn"/>
              </a:rPr>
              <a:t>Voice cloning</a:t>
            </a:r>
          </a:p>
        </p:txBody>
      </p:sp>
      <p:sp>
        <p:nvSpPr>
          <p:cNvPr id="19" name="TextBox 18"/>
          <p:cNvSpPr txBox="1"/>
          <p:nvPr/>
        </p:nvSpPr>
        <p:spPr>
          <a:xfrm>
            <a:off x="6662775" y="4741164"/>
            <a:ext cx="4431639" cy="1019556"/>
          </a:xfrm>
          <a:prstGeom prst="rect">
            <a:avLst/>
          </a:prstGeom>
          <a:noFill/>
        </p:spPr>
        <p:txBody>
          <a:bodyPr wrap="square" lIns="0" tIns="0" rIns="0" bIns="0" anchor="t">
            <a:spAutoFit/>
          </a:bodyPr>
          <a:lstStyle/>
          <a:p>
            <a:pPr algn="l">
              <a:lnSpc>
                <a:spcPct val="125000"/>
              </a:lnSpc>
            </a:pPr>
            <a:r>
              <a:rPr sz="1150" b="0">
                <a:solidFill>
                  <a:srgbClr val="8A94A8"/>
                </a:solidFill>
                <a:latin typeface="Vazirmatn"/>
                <a:ea typeface="Vazirmatn"/>
                <a:cs typeface="Vazirmatn"/>
              </a:rPr>
              <a:t>Verify unusual requests through a separate, trusted channel.</a:t>
            </a:r>
          </a:p>
        </p:txBody>
      </p:sp>
      <p:sp>
        <p:nvSpPr>
          <p:cNvPr id="20" name="TextBox 19"/>
          <p:cNvSpPr txBox="1"/>
          <p:nvPr/>
        </p:nvSpPr>
        <p:spPr>
          <a:xfrm>
            <a:off x="822960" y="6044184"/>
            <a:ext cx="10545775" cy="292608"/>
          </a:xfrm>
          <a:prstGeom prst="rect">
            <a:avLst/>
          </a:prstGeom>
          <a:noFill/>
        </p:spPr>
        <p:txBody>
          <a:bodyPr wrap="square" lIns="0" tIns="0" rIns="0" bIns="0" anchor="t">
            <a:spAutoFit/>
          </a:bodyPr>
          <a:lstStyle/>
          <a:p>
            <a:pPr algn="ctr">
              <a:lnSpc>
                <a:spcPct val="115000"/>
              </a:lnSpc>
            </a:pPr>
            <a:r>
              <a:rPr sz="1100" b="0">
                <a:solidFill>
                  <a:srgbClr val="8A94A8"/>
                </a:solidFill>
                <a:latin typeface="Vazirmatn"/>
                <a:ea typeface="Vazirmatn"/>
                <a:cs typeface="Vazirmatn"/>
              </a:rPr>
              <a:t>Exposure → reduce</a:t>
            </a:r>
          </a:p>
        </p:txBody>
      </p:sp>
      <p:sp>
        <p:nvSpPr>
          <p:cNvPr id="21" name="TextBox 20"/>
          <p:cNvSpPr txBox="1"/>
          <p:nvPr/>
        </p:nvSpPr>
        <p:spPr>
          <a:xfrm rot="16200000">
            <a:off x="137160" y="3872484"/>
            <a:ext cx="1828800" cy="292608"/>
          </a:xfrm>
          <a:prstGeom prst="rect">
            <a:avLst/>
          </a:prstGeom>
          <a:noFill/>
        </p:spPr>
        <p:txBody>
          <a:bodyPr wrap="square" lIns="0" tIns="0" rIns="0" bIns="0" anchor="t">
            <a:spAutoFit/>
          </a:bodyPr>
          <a:lstStyle/>
          <a:p>
            <a:pPr algn="ctr">
              <a:lnSpc>
                <a:spcPct val="115000"/>
              </a:lnSpc>
            </a:pPr>
            <a:r>
              <a:rPr sz="1100" b="0">
                <a:solidFill>
                  <a:srgbClr val="8A94A8"/>
                </a:solidFill>
                <a:latin typeface="Vazirmatn"/>
                <a:ea typeface="Vazirmatn"/>
                <a:cs typeface="Vazirmatn"/>
              </a:rPr>
              <a:t>Linkability → reduce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2564892"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2564892" cy="283464"/>
          </a:xfrm>
          <a:prstGeom prst="rect">
            <a:avLst/>
          </a:prstGeom>
          <a:noFill/>
        </p:spPr>
        <p:txBody>
          <a:bodyPr wrap="square" lIns="0" tIns="0" rIns="0" bIns="0" anchor="ctr">
            <a:spAutoFit/>
          </a:bodyPr>
          <a:lstStyle/>
          <a:p>
            <a:pPr algn="ctr">
              <a:lnSpc>
                <a:spcPct val="115000"/>
              </a:lnSpc>
            </a:pPr>
            <a:r>
              <a:rPr sz="1050" b="1">
                <a:solidFill>
                  <a:srgbClr val="5EA0F2"/>
                </a:solidFill>
                <a:latin typeface="Vazirmatn"/>
                <a:ea typeface="Vazirmatn"/>
                <a:cs typeface="Vazirmatn"/>
              </a:rPr>
              <a:t>CASE FILE 01 · PERSONAL OPSEC</a:t>
            </a:r>
          </a:p>
        </p:txBody>
      </p:sp>
      <p:sp>
        <p:nvSpPr>
          <p:cNvPr id="5" name="TextBox 4"/>
          <p:cNvSpPr txBox="1"/>
          <p:nvPr/>
        </p:nvSpPr>
        <p:spPr>
          <a:xfrm>
            <a:off x="822960" y="859536"/>
            <a:ext cx="10545775" cy="713232"/>
          </a:xfrm>
          <a:prstGeom prst="rect">
            <a:avLst/>
          </a:prstGeom>
          <a:noFill/>
        </p:spPr>
        <p:txBody>
          <a:bodyPr wrap="square" lIns="0" tIns="0" rIns="0" bIns="0" anchor="t">
            <a:spAutoFit/>
          </a:bodyPr>
          <a:lstStyle/>
          <a:p>
            <a:pPr algn="l">
              <a:lnSpc>
                <a:spcPct val="105000"/>
              </a:lnSpc>
            </a:pPr>
            <a:r>
              <a:rPr sz="2800" b="0">
                <a:solidFill>
                  <a:srgbClr val="F2F5FA"/>
                </a:solidFill>
                <a:latin typeface="Vazirmatn"/>
                <a:ea typeface="Vazirmatn"/>
                <a:cs typeface="Vazirmatn"/>
              </a:rPr>
              <a:t>When Ordinary Signals Expose Extraordinary Patterns</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10</a:t>
            </a:r>
          </a:p>
        </p:txBody>
      </p:sp>
      <p:sp>
        <p:nvSpPr>
          <p:cNvPr id="8" name="TextBox 7"/>
          <p:cNvSpPr txBox="1"/>
          <p:nvPr/>
        </p:nvSpPr>
        <p:spPr>
          <a:xfrm>
            <a:off x="822960" y="2066544"/>
            <a:ext cx="640080" cy="2144268"/>
          </a:xfrm>
          <a:prstGeom prst="rect">
            <a:avLst/>
          </a:prstGeom>
          <a:noFill/>
        </p:spPr>
        <p:txBody>
          <a:bodyPr wrap="square" lIns="0" tIns="0" rIns="0" bIns="0" anchor="ctr">
            <a:spAutoFit/>
          </a:bodyPr>
          <a:lstStyle/>
          <a:p>
            <a:pPr algn="l">
              <a:lnSpc>
                <a:spcPct val="115000"/>
              </a:lnSpc>
            </a:pPr>
            <a:r>
              <a:rPr sz="1800" b="1">
                <a:solidFill>
                  <a:srgbClr val="5EA0F2"/>
                </a:solidFill>
                <a:latin typeface="Vazirmatn"/>
                <a:ea typeface="Vazirmatn"/>
                <a:cs typeface="Vazirmatn"/>
              </a:rPr>
              <a:t>01</a:t>
            </a:r>
          </a:p>
        </p:txBody>
      </p:sp>
      <p:sp>
        <p:nvSpPr>
          <p:cNvPr id="9" name="TextBox 8"/>
          <p:cNvSpPr txBox="1"/>
          <p:nvPr/>
        </p:nvSpPr>
        <p:spPr>
          <a:xfrm>
            <a:off x="1645920" y="2431069"/>
            <a:ext cx="5105096" cy="643280"/>
          </a:xfrm>
          <a:prstGeom prst="rect">
            <a:avLst/>
          </a:prstGeom>
          <a:noFill/>
        </p:spPr>
        <p:txBody>
          <a:bodyPr wrap="square" lIns="0" tIns="0" rIns="0" bIns="0" anchor="t">
            <a:spAutoFit/>
          </a:bodyPr>
          <a:lstStyle/>
          <a:p>
            <a:pPr algn="l">
              <a:lnSpc>
                <a:spcPct val="115000"/>
              </a:lnSpc>
            </a:pPr>
            <a:r>
              <a:rPr sz="1600" b="1">
                <a:solidFill>
                  <a:srgbClr val="F2F5FA"/>
                </a:solidFill>
                <a:latin typeface="Vazirmatn"/>
                <a:ea typeface="Vazirmatn"/>
                <a:cs typeface="Vazirmatn"/>
              </a:rPr>
              <a:t>Strava · 2018</a:t>
            </a:r>
          </a:p>
        </p:txBody>
      </p:sp>
      <p:sp>
        <p:nvSpPr>
          <p:cNvPr id="10" name="TextBox 9"/>
          <p:cNvSpPr txBox="1"/>
          <p:nvPr/>
        </p:nvSpPr>
        <p:spPr>
          <a:xfrm>
            <a:off x="1645920" y="3138678"/>
            <a:ext cx="5105096" cy="771936"/>
          </a:xfrm>
          <a:prstGeom prst="rect">
            <a:avLst/>
          </a:prstGeom>
          <a:noFill/>
        </p:spPr>
        <p:txBody>
          <a:bodyPr wrap="square" lIns="0" tIns="0" rIns="0" bIns="0" anchor="t">
            <a:spAutoFit/>
          </a:bodyPr>
          <a:lstStyle/>
          <a:p>
            <a:pPr algn="l">
              <a:lnSpc>
                <a:spcPct val="130000"/>
              </a:lnSpc>
            </a:pPr>
            <a:r>
              <a:rPr sz="1250" b="0">
                <a:solidFill>
                  <a:srgbClr val="8A94A8"/>
                </a:solidFill>
                <a:latin typeface="Vazirmatn"/>
                <a:ea typeface="Vazirmatn"/>
                <a:cs typeface="Vazirmatn"/>
              </a:rPr>
              <a:t>A public fitness heatmap made routes around military sites in Syria and Afghanistan visible.</a:t>
            </a:r>
          </a:p>
        </p:txBody>
      </p:sp>
      <p:sp>
        <p:nvSpPr>
          <p:cNvPr id="11" name="Rectangle 10"/>
          <p:cNvSpPr/>
          <p:nvPr/>
        </p:nvSpPr>
        <p:spPr>
          <a:xfrm>
            <a:off x="1645920" y="4210812"/>
            <a:ext cx="5105096" cy="9525"/>
          </a:xfrm>
          <a:prstGeom prst="rect">
            <a:avLst/>
          </a:prstGeom>
          <a:solidFill>
            <a:srgbClr val="2A3348"/>
          </a:solidFill>
          <a:ln>
            <a:noFill/>
          </a:ln>
          <a:effectLst/>
        </p:spPr>
        <p:txBody>
          <a:bodyPr rtlCol="0" anchor="ctr"/>
          <a:lstStyle/>
          <a:p>
            <a:pPr algn="ctr"/>
            <a:endParaRPr/>
          </a:p>
        </p:txBody>
      </p:sp>
      <p:sp>
        <p:nvSpPr>
          <p:cNvPr id="12" name="TextBox 11"/>
          <p:cNvSpPr txBox="1"/>
          <p:nvPr/>
        </p:nvSpPr>
        <p:spPr>
          <a:xfrm>
            <a:off x="822960" y="4210812"/>
            <a:ext cx="640080" cy="2144268"/>
          </a:xfrm>
          <a:prstGeom prst="rect">
            <a:avLst/>
          </a:prstGeom>
          <a:noFill/>
        </p:spPr>
        <p:txBody>
          <a:bodyPr wrap="square" lIns="0" tIns="0" rIns="0" bIns="0" anchor="ctr">
            <a:spAutoFit/>
          </a:bodyPr>
          <a:lstStyle/>
          <a:p>
            <a:pPr algn="l">
              <a:lnSpc>
                <a:spcPct val="115000"/>
              </a:lnSpc>
            </a:pPr>
            <a:r>
              <a:rPr sz="1800" b="1">
                <a:solidFill>
                  <a:srgbClr val="5EA0F2"/>
                </a:solidFill>
                <a:latin typeface="Vazirmatn"/>
                <a:ea typeface="Vazirmatn"/>
                <a:cs typeface="Vazirmatn"/>
              </a:rPr>
              <a:t>02</a:t>
            </a:r>
          </a:p>
        </p:txBody>
      </p:sp>
      <p:sp>
        <p:nvSpPr>
          <p:cNvPr id="13" name="TextBox 12"/>
          <p:cNvSpPr txBox="1"/>
          <p:nvPr/>
        </p:nvSpPr>
        <p:spPr>
          <a:xfrm>
            <a:off x="1645920" y="4575337"/>
            <a:ext cx="5105096" cy="643280"/>
          </a:xfrm>
          <a:prstGeom prst="rect">
            <a:avLst/>
          </a:prstGeom>
          <a:noFill/>
        </p:spPr>
        <p:txBody>
          <a:bodyPr wrap="square" lIns="0" tIns="0" rIns="0" bIns="0" anchor="t">
            <a:spAutoFit/>
          </a:bodyPr>
          <a:lstStyle/>
          <a:p>
            <a:pPr algn="l">
              <a:lnSpc>
                <a:spcPct val="115000"/>
              </a:lnSpc>
            </a:pPr>
            <a:r>
              <a:rPr sz="1600" b="1">
                <a:solidFill>
                  <a:srgbClr val="F2F5FA"/>
                </a:solidFill>
                <a:latin typeface="Vazirmatn"/>
                <a:ea typeface="Vazirmatn"/>
                <a:cs typeface="Vazirmatn"/>
              </a:rPr>
              <a:t>Silk Road · identity bridge</a:t>
            </a:r>
          </a:p>
        </p:txBody>
      </p:sp>
      <p:sp>
        <p:nvSpPr>
          <p:cNvPr id="14" name="TextBox 13"/>
          <p:cNvSpPr txBox="1"/>
          <p:nvPr/>
        </p:nvSpPr>
        <p:spPr>
          <a:xfrm>
            <a:off x="1645920" y="5282946"/>
            <a:ext cx="5105096" cy="771936"/>
          </a:xfrm>
          <a:prstGeom prst="rect">
            <a:avLst/>
          </a:prstGeom>
          <a:noFill/>
        </p:spPr>
        <p:txBody>
          <a:bodyPr wrap="square" lIns="0" tIns="0" rIns="0" bIns="0" anchor="t">
            <a:spAutoFit/>
          </a:bodyPr>
          <a:lstStyle/>
          <a:p>
            <a:pPr algn="l">
              <a:lnSpc>
                <a:spcPct val="130000"/>
              </a:lnSpc>
            </a:pPr>
            <a:r>
              <a:rPr sz="1250" b="0" dirty="0">
                <a:solidFill>
                  <a:srgbClr val="8A94A8"/>
                </a:solidFill>
                <a:latin typeface="Vazirmatn"/>
                <a:ea typeface="Vazirmatn"/>
                <a:cs typeface="Vazirmatn"/>
              </a:rPr>
              <a:t>A forum post and later job ad tied the same user to an email registered to Ross Ulbricht.</a:t>
            </a:r>
          </a:p>
        </p:txBody>
      </p:sp>
      <p:sp>
        <p:nvSpPr>
          <p:cNvPr id="15" name="Rounded Rectangle 14"/>
          <p:cNvSpPr/>
          <p:nvPr/>
        </p:nvSpPr>
        <p:spPr>
          <a:xfrm>
            <a:off x="7391096" y="2066544"/>
            <a:ext cx="3977639" cy="4288536"/>
          </a:xfrm>
          <a:prstGeom prst="roundRect">
            <a:avLst>
              <a:gd name="adj" fmla="val 10000"/>
            </a:avLst>
          </a:prstGeom>
          <a:solidFill>
            <a:srgbClr val="9FB4D8"/>
          </a:solidFill>
          <a:ln>
            <a:noFill/>
          </a:ln>
          <a:effectLst/>
        </p:spPr>
        <p:txBody>
          <a:bodyPr rtlCol="0" anchor="ctr"/>
          <a:lstStyle/>
          <a:p>
            <a:pPr algn="ctr"/>
            <a:endParaRPr/>
          </a:p>
        </p:txBody>
      </p:sp>
      <p:sp>
        <p:nvSpPr>
          <p:cNvPr id="16" name="TextBox 15"/>
          <p:cNvSpPr txBox="1"/>
          <p:nvPr/>
        </p:nvSpPr>
        <p:spPr>
          <a:xfrm>
            <a:off x="7802576" y="2478024"/>
            <a:ext cx="3154679" cy="822960"/>
          </a:xfrm>
          <a:prstGeom prst="rect">
            <a:avLst/>
          </a:prstGeom>
          <a:noFill/>
        </p:spPr>
        <p:txBody>
          <a:bodyPr wrap="square" lIns="0" tIns="0" rIns="0" bIns="0" anchor="t">
            <a:spAutoFit/>
          </a:bodyPr>
          <a:lstStyle/>
          <a:p>
            <a:pPr algn="l">
              <a:lnSpc>
                <a:spcPct val="105000"/>
              </a:lnSpc>
            </a:pPr>
            <a:r>
              <a:rPr sz="3400" b="1">
                <a:solidFill>
                  <a:srgbClr val="10141F"/>
                </a:solidFill>
                <a:latin typeface="Vazirmatn"/>
                <a:ea typeface="Vazirmatn"/>
                <a:cs typeface="Vazirmatn"/>
              </a:rPr>
              <a:t>1 clue</a:t>
            </a:r>
          </a:p>
        </p:txBody>
      </p:sp>
      <p:sp>
        <p:nvSpPr>
          <p:cNvPr id="17" name="TextBox 16"/>
          <p:cNvSpPr txBox="1"/>
          <p:nvPr/>
        </p:nvSpPr>
        <p:spPr>
          <a:xfrm>
            <a:off x="7802576" y="3255264"/>
            <a:ext cx="3154679" cy="384048"/>
          </a:xfrm>
          <a:prstGeom prst="rect">
            <a:avLst/>
          </a:prstGeom>
          <a:noFill/>
        </p:spPr>
        <p:txBody>
          <a:bodyPr wrap="square" lIns="0" tIns="0" rIns="0" bIns="0" anchor="t">
            <a:spAutoFit/>
          </a:bodyPr>
          <a:lstStyle/>
          <a:p>
            <a:pPr algn="l">
              <a:lnSpc>
                <a:spcPct val="115000"/>
              </a:lnSpc>
            </a:pPr>
            <a:r>
              <a:rPr sz="1150" b="1">
                <a:solidFill>
                  <a:srgbClr val="10141F"/>
                </a:solidFill>
                <a:latin typeface="Vazirmatn"/>
                <a:ea typeface="Vazirmatn"/>
                <a:cs typeface="Vazirmatn"/>
              </a:rPr>
              <a:t>can connect worlds</a:t>
            </a:r>
          </a:p>
        </p:txBody>
      </p:sp>
      <p:sp>
        <p:nvSpPr>
          <p:cNvPr id="18" name="TextBox 17"/>
          <p:cNvSpPr txBox="1"/>
          <p:nvPr/>
        </p:nvSpPr>
        <p:spPr>
          <a:xfrm>
            <a:off x="7802576" y="3941063"/>
            <a:ext cx="3154679" cy="658368"/>
          </a:xfrm>
          <a:prstGeom prst="rect">
            <a:avLst/>
          </a:prstGeom>
          <a:noFill/>
        </p:spPr>
        <p:txBody>
          <a:bodyPr wrap="square" lIns="0" tIns="0" rIns="0" bIns="0" anchor="t">
            <a:spAutoFit/>
          </a:bodyPr>
          <a:lstStyle/>
          <a:p>
            <a:pPr algn="l">
              <a:lnSpc>
                <a:spcPct val="115000"/>
              </a:lnSpc>
            </a:pPr>
            <a:r>
              <a:rPr sz="2000" b="1">
                <a:solidFill>
                  <a:srgbClr val="10141F"/>
                </a:solidFill>
                <a:latin typeface="Vazirmatn"/>
                <a:ea typeface="Vazirmatn"/>
                <a:cs typeface="Vazirmatn"/>
              </a:rPr>
              <a:t>The lesson</a:t>
            </a:r>
          </a:p>
        </p:txBody>
      </p:sp>
      <p:sp>
        <p:nvSpPr>
          <p:cNvPr id="19" name="TextBox 18"/>
          <p:cNvSpPr txBox="1"/>
          <p:nvPr/>
        </p:nvSpPr>
        <p:spPr>
          <a:xfrm>
            <a:off x="7802576" y="4745735"/>
            <a:ext cx="3154679" cy="1271017"/>
          </a:xfrm>
          <a:prstGeom prst="rect">
            <a:avLst/>
          </a:prstGeom>
          <a:noFill/>
        </p:spPr>
        <p:txBody>
          <a:bodyPr wrap="square" lIns="0" tIns="0" rIns="0" bIns="0" anchor="t">
            <a:spAutoFit/>
          </a:bodyPr>
          <a:lstStyle/>
          <a:p>
            <a:pPr algn="l">
              <a:lnSpc>
                <a:spcPct val="135000"/>
              </a:lnSpc>
            </a:pPr>
            <a:r>
              <a:rPr sz="1300" b="0">
                <a:solidFill>
                  <a:srgbClr val="10141F"/>
                </a:solidFill>
                <a:latin typeface="Vazirmatn"/>
                <a:ea typeface="Vazirmatn"/>
                <a:cs typeface="Vazirmatn"/>
              </a:rPr>
              <a:t>The map exposed sensitive routines; in Silk Road, an old identity link helped investigators. Neither story required breaking cryptography.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2487168"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2487168" cy="283464"/>
          </a:xfrm>
          <a:prstGeom prst="rect">
            <a:avLst/>
          </a:prstGeom>
          <a:noFill/>
        </p:spPr>
        <p:txBody>
          <a:bodyPr wrap="square" lIns="0" tIns="0" rIns="0" bIns="0" anchor="ctr">
            <a:spAutoFit/>
          </a:bodyPr>
          <a:lstStyle/>
          <a:p>
            <a:pPr algn="ctr">
              <a:lnSpc>
                <a:spcPct val="115000"/>
              </a:lnSpc>
            </a:pPr>
            <a:r>
              <a:rPr sz="1050" b="1">
                <a:solidFill>
                  <a:srgbClr val="5EA0F2"/>
                </a:solidFill>
                <a:latin typeface="Vazirmatn"/>
                <a:ea typeface="Vazirmatn"/>
                <a:cs typeface="Vazirmatn"/>
              </a:rPr>
              <a:t>CASE FILE 02 · BUSINESS DATA</a:t>
            </a:r>
          </a:p>
        </p:txBody>
      </p:sp>
      <p:sp>
        <p:nvSpPr>
          <p:cNvPr id="5" name="TextBox 4"/>
          <p:cNvSpPr txBox="1"/>
          <p:nvPr/>
        </p:nvSpPr>
        <p:spPr>
          <a:xfrm>
            <a:off x="822960" y="859536"/>
            <a:ext cx="10545775" cy="713232"/>
          </a:xfrm>
          <a:prstGeom prst="rect">
            <a:avLst/>
          </a:prstGeom>
          <a:noFill/>
        </p:spPr>
        <p:txBody>
          <a:bodyPr wrap="square" lIns="0" tIns="0" rIns="0" bIns="0" anchor="t">
            <a:spAutoFit/>
          </a:bodyPr>
          <a:lstStyle/>
          <a:p>
            <a:pPr algn="l">
              <a:lnSpc>
                <a:spcPct val="105000"/>
              </a:lnSpc>
            </a:pPr>
            <a:r>
              <a:rPr sz="2800" b="0">
                <a:solidFill>
                  <a:srgbClr val="F2F5FA"/>
                </a:solidFill>
                <a:latin typeface="Vazirmatn"/>
                <a:ea typeface="Vazirmatn"/>
                <a:cs typeface="Vazirmatn"/>
              </a:rPr>
              <a:t>A Prompt Can Become an Uncontrolled Data Channel</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11</a:t>
            </a:r>
          </a:p>
        </p:txBody>
      </p:sp>
      <p:sp>
        <p:nvSpPr>
          <p:cNvPr id="8" name="TextBox 7"/>
          <p:cNvSpPr txBox="1"/>
          <p:nvPr/>
        </p:nvSpPr>
        <p:spPr>
          <a:xfrm>
            <a:off x="822960" y="2066544"/>
            <a:ext cx="640080" cy="2144268"/>
          </a:xfrm>
          <a:prstGeom prst="rect">
            <a:avLst/>
          </a:prstGeom>
          <a:noFill/>
        </p:spPr>
        <p:txBody>
          <a:bodyPr wrap="square" lIns="0" tIns="0" rIns="0" bIns="0" anchor="ctr">
            <a:spAutoFit/>
          </a:bodyPr>
          <a:lstStyle/>
          <a:p>
            <a:pPr algn="l">
              <a:lnSpc>
                <a:spcPct val="115000"/>
              </a:lnSpc>
            </a:pPr>
            <a:r>
              <a:rPr sz="1800" b="1">
                <a:solidFill>
                  <a:srgbClr val="5EA0F2"/>
                </a:solidFill>
                <a:latin typeface="Vazirmatn"/>
                <a:ea typeface="Vazirmatn"/>
                <a:cs typeface="Vazirmatn"/>
              </a:rPr>
              <a:t>01</a:t>
            </a:r>
          </a:p>
        </p:txBody>
      </p:sp>
      <p:sp>
        <p:nvSpPr>
          <p:cNvPr id="9" name="TextBox 8"/>
          <p:cNvSpPr txBox="1"/>
          <p:nvPr/>
        </p:nvSpPr>
        <p:spPr>
          <a:xfrm>
            <a:off x="1645920" y="2431069"/>
            <a:ext cx="5105096" cy="643280"/>
          </a:xfrm>
          <a:prstGeom prst="rect">
            <a:avLst/>
          </a:prstGeom>
          <a:noFill/>
        </p:spPr>
        <p:txBody>
          <a:bodyPr wrap="square" lIns="0" tIns="0" rIns="0" bIns="0" anchor="t">
            <a:spAutoFit/>
          </a:bodyPr>
          <a:lstStyle/>
          <a:p>
            <a:pPr algn="l">
              <a:lnSpc>
                <a:spcPct val="115000"/>
              </a:lnSpc>
            </a:pPr>
            <a:r>
              <a:rPr sz="1600" b="1">
                <a:solidFill>
                  <a:srgbClr val="F2F5FA"/>
                </a:solidFill>
                <a:latin typeface="Vazirmatn"/>
                <a:ea typeface="Vazirmatn"/>
                <a:cs typeface="Vazirmatn"/>
              </a:rPr>
              <a:t>A normal work task</a:t>
            </a:r>
          </a:p>
        </p:txBody>
      </p:sp>
      <p:sp>
        <p:nvSpPr>
          <p:cNvPr id="10" name="TextBox 9"/>
          <p:cNvSpPr txBox="1"/>
          <p:nvPr/>
        </p:nvSpPr>
        <p:spPr>
          <a:xfrm>
            <a:off x="1645920" y="3138678"/>
            <a:ext cx="5105096" cy="771936"/>
          </a:xfrm>
          <a:prstGeom prst="rect">
            <a:avLst/>
          </a:prstGeom>
          <a:noFill/>
        </p:spPr>
        <p:txBody>
          <a:bodyPr wrap="square" lIns="0" tIns="0" rIns="0" bIns="0" anchor="t">
            <a:spAutoFit/>
          </a:bodyPr>
          <a:lstStyle/>
          <a:p>
            <a:pPr algn="l">
              <a:lnSpc>
                <a:spcPct val="130000"/>
              </a:lnSpc>
            </a:pPr>
            <a:r>
              <a:rPr sz="1250" b="0">
                <a:solidFill>
                  <a:srgbClr val="8A94A8"/>
                </a:solidFill>
                <a:latin typeface="Vazirmatn"/>
                <a:ea typeface="Vazirmatn"/>
                <a:cs typeface="Vazirmatn"/>
              </a:rPr>
              <a:t>In 2023, Samsung semiconductor staff reportedly asked ChatGPT to debug code and summarize a meeting.</a:t>
            </a:r>
          </a:p>
        </p:txBody>
      </p:sp>
      <p:sp>
        <p:nvSpPr>
          <p:cNvPr id="11" name="Rectangle 10"/>
          <p:cNvSpPr/>
          <p:nvPr/>
        </p:nvSpPr>
        <p:spPr>
          <a:xfrm>
            <a:off x="1645920" y="4210812"/>
            <a:ext cx="5105096" cy="9525"/>
          </a:xfrm>
          <a:prstGeom prst="rect">
            <a:avLst/>
          </a:prstGeom>
          <a:solidFill>
            <a:srgbClr val="2A3348"/>
          </a:solidFill>
          <a:ln>
            <a:noFill/>
          </a:ln>
          <a:effectLst/>
        </p:spPr>
        <p:txBody>
          <a:bodyPr rtlCol="0" anchor="ctr"/>
          <a:lstStyle/>
          <a:p>
            <a:pPr algn="ctr"/>
            <a:endParaRPr/>
          </a:p>
        </p:txBody>
      </p:sp>
      <p:sp>
        <p:nvSpPr>
          <p:cNvPr id="12" name="TextBox 11"/>
          <p:cNvSpPr txBox="1"/>
          <p:nvPr/>
        </p:nvSpPr>
        <p:spPr>
          <a:xfrm>
            <a:off x="822960" y="4210812"/>
            <a:ext cx="640080" cy="2144268"/>
          </a:xfrm>
          <a:prstGeom prst="rect">
            <a:avLst/>
          </a:prstGeom>
          <a:noFill/>
        </p:spPr>
        <p:txBody>
          <a:bodyPr wrap="square" lIns="0" tIns="0" rIns="0" bIns="0" anchor="ctr">
            <a:spAutoFit/>
          </a:bodyPr>
          <a:lstStyle/>
          <a:p>
            <a:pPr algn="l">
              <a:lnSpc>
                <a:spcPct val="115000"/>
              </a:lnSpc>
            </a:pPr>
            <a:r>
              <a:rPr sz="1800" b="1">
                <a:solidFill>
                  <a:srgbClr val="5EA0F2"/>
                </a:solidFill>
                <a:latin typeface="Vazirmatn"/>
                <a:ea typeface="Vazirmatn"/>
                <a:cs typeface="Vazirmatn"/>
              </a:rPr>
              <a:t>02</a:t>
            </a:r>
          </a:p>
        </p:txBody>
      </p:sp>
      <p:sp>
        <p:nvSpPr>
          <p:cNvPr id="13" name="TextBox 12"/>
          <p:cNvSpPr txBox="1"/>
          <p:nvPr/>
        </p:nvSpPr>
        <p:spPr>
          <a:xfrm>
            <a:off x="1645920" y="4575337"/>
            <a:ext cx="5105096" cy="643280"/>
          </a:xfrm>
          <a:prstGeom prst="rect">
            <a:avLst/>
          </a:prstGeom>
          <a:noFill/>
        </p:spPr>
        <p:txBody>
          <a:bodyPr wrap="square" lIns="0" tIns="0" rIns="0" bIns="0" anchor="t">
            <a:spAutoFit/>
          </a:bodyPr>
          <a:lstStyle/>
          <a:p>
            <a:pPr algn="l">
              <a:lnSpc>
                <a:spcPct val="115000"/>
              </a:lnSpc>
            </a:pPr>
            <a:r>
              <a:rPr sz="1600" b="1">
                <a:solidFill>
                  <a:srgbClr val="F2F5FA"/>
                </a:solidFill>
                <a:latin typeface="Vazirmatn"/>
                <a:ea typeface="Vazirmatn"/>
                <a:cs typeface="Vazirmatn"/>
              </a:rPr>
              <a:t>What crossed the boundary</a:t>
            </a:r>
          </a:p>
        </p:txBody>
      </p:sp>
      <p:sp>
        <p:nvSpPr>
          <p:cNvPr id="14" name="TextBox 13"/>
          <p:cNvSpPr txBox="1"/>
          <p:nvPr/>
        </p:nvSpPr>
        <p:spPr>
          <a:xfrm>
            <a:off x="1645920" y="5282946"/>
            <a:ext cx="5105096" cy="771936"/>
          </a:xfrm>
          <a:prstGeom prst="rect">
            <a:avLst/>
          </a:prstGeom>
          <a:noFill/>
        </p:spPr>
        <p:txBody>
          <a:bodyPr wrap="square" lIns="0" tIns="0" rIns="0" bIns="0" anchor="t">
            <a:spAutoFit/>
          </a:bodyPr>
          <a:lstStyle/>
          <a:p>
            <a:pPr algn="l">
              <a:lnSpc>
                <a:spcPct val="130000"/>
              </a:lnSpc>
            </a:pPr>
            <a:r>
              <a:rPr sz="1250" b="0">
                <a:solidFill>
                  <a:srgbClr val="8A94A8"/>
                </a:solidFill>
                <a:latin typeface="Vazirmatn"/>
                <a:ea typeface="Vazirmatn"/>
                <a:cs typeface="Vazirmatn"/>
              </a:rPr>
              <a:t>Sensitive source code and meeting material entered a consumer AI service.</a:t>
            </a:r>
          </a:p>
        </p:txBody>
      </p:sp>
      <p:sp>
        <p:nvSpPr>
          <p:cNvPr id="15" name="Rounded Rectangle 14"/>
          <p:cNvSpPr/>
          <p:nvPr/>
        </p:nvSpPr>
        <p:spPr>
          <a:xfrm>
            <a:off x="7391096" y="2066544"/>
            <a:ext cx="3977639" cy="4288536"/>
          </a:xfrm>
          <a:prstGeom prst="roundRect">
            <a:avLst>
              <a:gd name="adj" fmla="val 10000"/>
            </a:avLst>
          </a:prstGeom>
          <a:solidFill>
            <a:srgbClr val="9FB4D8"/>
          </a:solidFill>
          <a:ln>
            <a:noFill/>
          </a:ln>
          <a:effectLst/>
        </p:spPr>
        <p:txBody>
          <a:bodyPr rtlCol="0" anchor="ctr"/>
          <a:lstStyle/>
          <a:p>
            <a:pPr algn="ctr"/>
            <a:endParaRPr/>
          </a:p>
        </p:txBody>
      </p:sp>
      <p:sp>
        <p:nvSpPr>
          <p:cNvPr id="16" name="TextBox 15"/>
          <p:cNvSpPr txBox="1"/>
          <p:nvPr/>
        </p:nvSpPr>
        <p:spPr>
          <a:xfrm>
            <a:off x="7802576" y="2660904"/>
            <a:ext cx="3154679" cy="658368"/>
          </a:xfrm>
          <a:prstGeom prst="rect">
            <a:avLst/>
          </a:prstGeom>
          <a:noFill/>
        </p:spPr>
        <p:txBody>
          <a:bodyPr wrap="square" lIns="0" tIns="0" rIns="0" bIns="0" anchor="t">
            <a:spAutoFit/>
          </a:bodyPr>
          <a:lstStyle/>
          <a:p>
            <a:pPr algn="l">
              <a:lnSpc>
                <a:spcPct val="115000"/>
              </a:lnSpc>
            </a:pPr>
            <a:r>
              <a:rPr sz="2000" b="1">
                <a:solidFill>
                  <a:srgbClr val="10141F"/>
                </a:solidFill>
                <a:latin typeface="Vazirmatn"/>
                <a:ea typeface="Vazirmatn"/>
                <a:cs typeface="Vazirmatn"/>
              </a:rPr>
              <a:t>What changed</a:t>
            </a:r>
          </a:p>
        </p:txBody>
      </p:sp>
      <p:sp>
        <p:nvSpPr>
          <p:cNvPr id="17" name="TextBox 16"/>
          <p:cNvSpPr txBox="1"/>
          <p:nvPr/>
        </p:nvSpPr>
        <p:spPr>
          <a:xfrm>
            <a:off x="7802576" y="3465576"/>
            <a:ext cx="3154679" cy="2551176"/>
          </a:xfrm>
          <a:prstGeom prst="rect">
            <a:avLst/>
          </a:prstGeom>
          <a:noFill/>
        </p:spPr>
        <p:txBody>
          <a:bodyPr wrap="square" lIns="0" tIns="0" rIns="0" bIns="0" anchor="t">
            <a:spAutoFit/>
          </a:bodyPr>
          <a:lstStyle/>
          <a:p>
            <a:pPr algn="l">
              <a:lnSpc>
                <a:spcPct val="135000"/>
              </a:lnSpc>
            </a:pPr>
            <a:r>
              <a:rPr sz="1300" b="0">
                <a:solidFill>
                  <a:srgbClr val="10141F"/>
                </a:solidFill>
                <a:latin typeface="Vazirmatn"/>
                <a:ea typeface="Vazirmatn"/>
                <a:cs typeface="Vazirmatn"/>
              </a:rPr>
              <a:t>Samsung restricted staff AI use. The operational lesson: classify data before prompting and verify the service’s retention and training settings.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2487168"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2487168" cy="283464"/>
          </a:xfrm>
          <a:prstGeom prst="rect">
            <a:avLst/>
          </a:prstGeom>
          <a:noFill/>
        </p:spPr>
        <p:txBody>
          <a:bodyPr wrap="square" lIns="0" tIns="0" rIns="0" bIns="0" anchor="ctr">
            <a:spAutoFit/>
          </a:bodyPr>
          <a:lstStyle/>
          <a:p>
            <a:pPr algn="ctr">
              <a:lnSpc>
                <a:spcPct val="115000"/>
              </a:lnSpc>
            </a:pPr>
            <a:r>
              <a:rPr sz="1050" b="1">
                <a:solidFill>
                  <a:srgbClr val="5EA0F2"/>
                </a:solidFill>
                <a:latin typeface="Vazirmatn"/>
                <a:ea typeface="Vazirmatn"/>
                <a:cs typeface="Vazirmatn"/>
              </a:rPr>
              <a:t>CASE FILE 03 · COUNTER-OSINT</a:t>
            </a:r>
          </a:p>
        </p:txBody>
      </p:sp>
      <p:sp>
        <p:nvSpPr>
          <p:cNvPr id="5" name="TextBox 4"/>
          <p:cNvSpPr txBox="1"/>
          <p:nvPr/>
        </p:nvSpPr>
        <p:spPr>
          <a:xfrm>
            <a:off x="822960" y="859536"/>
            <a:ext cx="10545775" cy="713232"/>
          </a:xfrm>
          <a:prstGeom prst="rect">
            <a:avLst/>
          </a:prstGeom>
          <a:noFill/>
        </p:spPr>
        <p:txBody>
          <a:bodyPr wrap="square" lIns="0" tIns="0" rIns="0" bIns="0" anchor="t">
            <a:spAutoFit/>
          </a:bodyPr>
          <a:lstStyle/>
          <a:p>
            <a:pPr algn="l">
              <a:lnSpc>
                <a:spcPct val="105000"/>
              </a:lnSpc>
            </a:pPr>
            <a:r>
              <a:rPr sz="2800" b="0">
                <a:solidFill>
                  <a:srgbClr val="F2F5FA"/>
                </a:solidFill>
                <a:latin typeface="Vazirmatn"/>
                <a:ea typeface="Vazirmatn"/>
                <a:cs typeface="Vazirmatn"/>
              </a:rPr>
              <a:t>Face Search Turns a Photo into a Search Key</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12</a:t>
            </a:r>
          </a:p>
        </p:txBody>
      </p:sp>
      <p:sp>
        <p:nvSpPr>
          <p:cNvPr id="8" name="TextBox 7"/>
          <p:cNvSpPr txBox="1"/>
          <p:nvPr/>
        </p:nvSpPr>
        <p:spPr>
          <a:xfrm>
            <a:off x="822960" y="2569464"/>
            <a:ext cx="4427067" cy="640080"/>
          </a:xfrm>
          <a:prstGeom prst="rect">
            <a:avLst/>
          </a:prstGeom>
          <a:noFill/>
        </p:spPr>
        <p:txBody>
          <a:bodyPr wrap="square" lIns="0" tIns="0" rIns="0" bIns="0" anchor="t">
            <a:spAutoFit/>
          </a:bodyPr>
          <a:lstStyle/>
          <a:p>
            <a:pPr algn="l">
              <a:lnSpc>
                <a:spcPct val="105000"/>
              </a:lnSpc>
            </a:pPr>
            <a:r>
              <a:rPr sz="2100" b="1">
                <a:solidFill>
                  <a:srgbClr val="F2F5FA"/>
                </a:solidFill>
                <a:latin typeface="Vazirmatn"/>
                <a:ea typeface="Vazirmatn"/>
                <a:cs typeface="Vazirmatn"/>
              </a:rPr>
              <a:t>One reused avatar</a:t>
            </a:r>
          </a:p>
        </p:txBody>
      </p:sp>
      <p:sp>
        <p:nvSpPr>
          <p:cNvPr id="9" name="Rectangle 8"/>
          <p:cNvSpPr/>
          <p:nvPr/>
        </p:nvSpPr>
        <p:spPr>
          <a:xfrm>
            <a:off x="822960" y="3364992"/>
            <a:ext cx="640080" cy="54864"/>
          </a:xfrm>
          <a:prstGeom prst="rect">
            <a:avLst/>
          </a:prstGeom>
          <a:solidFill>
            <a:srgbClr val="2A3348"/>
          </a:solidFill>
          <a:ln>
            <a:noFill/>
          </a:ln>
          <a:effectLst/>
        </p:spPr>
        <p:txBody>
          <a:bodyPr rtlCol="0" anchor="ctr"/>
          <a:lstStyle/>
          <a:p>
            <a:pPr algn="ctr"/>
            <a:endParaRPr/>
          </a:p>
        </p:txBody>
      </p:sp>
      <p:sp>
        <p:nvSpPr>
          <p:cNvPr id="10" name="TextBox 9"/>
          <p:cNvSpPr txBox="1"/>
          <p:nvPr/>
        </p:nvSpPr>
        <p:spPr>
          <a:xfrm>
            <a:off x="822960" y="3666744"/>
            <a:ext cx="4427067" cy="2368296"/>
          </a:xfrm>
          <a:prstGeom prst="rect">
            <a:avLst/>
          </a:prstGeom>
          <a:noFill/>
        </p:spPr>
        <p:txBody>
          <a:bodyPr wrap="square" lIns="0" tIns="0" rIns="0" bIns="0" anchor="t">
            <a:spAutoFit/>
          </a:bodyPr>
          <a:lstStyle/>
          <a:p>
            <a:pPr algn="l">
              <a:lnSpc>
                <a:spcPct val="140000"/>
              </a:lnSpc>
            </a:pPr>
            <a:r>
              <a:rPr sz="1400" b="0">
                <a:solidFill>
                  <a:srgbClr val="8A94A8"/>
                </a:solidFill>
                <a:latin typeface="Vazirmatn"/>
                <a:ea typeface="Vazirmatn"/>
                <a:cs typeface="Vazirmatn"/>
              </a:rPr>
              <a:t>A small, public face image can become the bridge between an anonymous handle and real-world profiles.</a:t>
            </a:r>
          </a:p>
        </p:txBody>
      </p:sp>
      <p:sp>
        <p:nvSpPr>
          <p:cNvPr id="11" name="Rounded Rectangle 10"/>
          <p:cNvSpPr/>
          <p:nvPr/>
        </p:nvSpPr>
        <p:spPr>
          <a:xfrm>
            <a:off x="6621627" y="2066544"/>
            <a:ext cx="4747107" cy="4288536"/>
          </a:xfrm>
          <a:prstGeom prst="roundRect">
            <a:avLst>
              <a:gd name="adj" fmla="val 10000"/>
            </a:avLst>
          </a:prstGeom>
          <a:solidFill>
            <a:srgbClr val="5EA0F2"/>
          </a:solidFill>
          <a:ln>
            <a:noFill/>
          </a:ln>
          <a:effectLst/>
        </p:spPr>
        <p:txBody>
          <a:bodyPr rtlCol="0" anchor="ctr"/>
          <a:lstStyle/>
          <a:p>
            <a:pPr algn="ctr"/>
            <a:endParaRPr/>
          </a:p>
        </p:txBody>
      </p:sp>
      <p:sp>
        <p:nvSpPr>
          <p:cNvPr id="12" name="TextBox 11"/>
          <p:cNvSpPr txBox="1"/>
          <p:nvPr/>
        </p:nvSpPr>
        <p:spPr>
          <a:xfrm>
            <a:off x="7060539" y="2569464"/>
            <a:ext cx="3869283" cy="685800"/>
          </a:xfrm>
          <a:prstGeom prst="rect">
            <a:avLst/>
          </a:prstGeom>
          <a:noFill/>
        </p:spPr>
        <p:txBody>
          <a:bodyPr wrap="square" lIns="0" tIns="0" rIns="0" bIns="0" anchor="t">
            <a:spAutoFit/>
          </a:bodyPr>
          <a:lstStyle/>
          <a:p>
            <a:pPr algn="l">
              <a:lnSpc>
                <a:spcPct val="105000"/>
              </a:lnSpc>
            </a:pPr>
            <a:r>
              <a:rPr sz="2200" b="1">
                <a:solidFill>
                  <a:srgbClr val="0B0F18"/>
                </a:solidFill>
                <a:latin typeface="Vazirmatn"/>
                <a:ea typeface="Vazirmatn"/>
                <a:cs typeface="Vazirmatn"/>
              </a:rPr>
              <a:t>Separate the signals</a:t>
            </a:r>
          </a:p>
        </p:txBody>
      </p:sp>
      <p:sp>
        <p:nvSpPr>
          <p:cNvPr id="13" name="Rectangle 12"/>
          <p:cNvSpPr/>
          <p:nvPr/>
        </p:nvSpPr>
        <p:spPr>
          <a:xfrm>
            <a:off x="7060539" y="3392424"/>
            <a:ext cx="640080" cy="54864"/>
          </a:xfrm>
          <a:prstGeom prst="rect">
            <a:avLst/>
          </a:prstGeom>
          <a:solidFill>
            <a:srgbClr val="0B0F18"/>
          </a:solidFill>
          <a:ln>
            <a:noFill/>
          </a:ln>
          <a:effectLst/>
        </p:spPr>
        <p:txBody>
          <a:bodyPr rtlCol="0" anchor="ctr"/>
          <a:lstStyle/>
          <a:p>
            <a:pPr algn="ctr"/>
            <a:endParaRPr/>
          </a:p>
        </p:txBody>
      </p:sp>
      <p:sp>
        <p:nvSpPr>
          <p:cNvPr id="14" name="TextBox 13"/>
          <p:cNvSpPr txBox="1"/>
          <p:nvPr/>
        </p:nvSpPr>
        <p:spPr>
          <a:xfrm>
            <a:off x="7060539" y="3694176"/>
            <a:ext cx="3869283" cy="2322576"/>
          </a:xfrm>
          <a:prstGeom prst="rect">
            <a:avLst/>
          </a:prstGeom>
          <a:noFill/>
        </p:spPr>
        <p:txBody>
          <a:bodyPr wrap="square" lIns="0" tIns="0" rIns="0" bIns="0" anchor="t">
            <a:spAutoFit/>
          </a:bodyPr>
          <a:lstStyle/>
          <a:p>
            <a:pPr algn="l">
              <a:lnSpc>
                <a:spcPct val="140000"/>
              </a:lnSpc>
            </a:pPr>
            <a:r>
              <a:rPr sz="1400" b="0" dirty="0">
                <a:solidFill>
                  <a:srgbClr val="0B0F18"/>
                </a:solidFill>
                <a:latin typeface="Vazirmatn"/>
                <a:ea typeface="Vazirmatn"/>
                <a:cs typeface="Vazirmatn"/>
              </a:rPr>
              <a:t>Use distinct avatars and usernames; strip EXIF metadata before posting. Do not treat a partial facial crop or sunglasses as reliable protection.</a:t>
            </a:r>
          </a:p>
        </p:txBody>
      </p:sp>
      <p:sp>
        <p:nvSpPr>
          <p:cNvPr id="15" name="Chevron 14"/>
          <p:cNvSpPr/>
          <p:nvPr/>
        </p:nvSpPr>
        <p:spPr>
          <a:xfrm>
            <a:off x="5858103" y="3973068"/>
            <a:ext cx="475488" cy="475488"/>
          </a:xfrm>
          <a:prstGeom prst="chevron">
            <a:avLst/>
          </a:prstGeom>
          <a:solidFill>
            <a:srgbClr val="9FB4D8"/>
          </a:solidFill>
          <a:ln>
            <a:noFill/>
          </a:ln>
          <a:effectLst/>
        </p:spPr>
        <p:txBody>
          <a:bodyPr rtlCol="0" anchor="ctr"/>
          <a:lstStyle/>
          <a:p>
            <a:pPr algn="ctr"/>
            <a:endParaRPr/>
          </a:p>
        </p:txBody>
      </p:sp>
      <p:sp>
        <p:nvSpPr>
          <p:cNvPr id="16" name="TextBox 15"/>
          <p:cNvSpPr txBox="1"/>
          <p:nvPr/>
        </p:nvSpPr>
        <p:spPr>
          <a:xfrm>
            <a:off x="5378043" y="3431124"/>
            <a:ext cx="1243584" cy="365760"/>
          </a:xfrm>
          <a:prstGeom prst="rect">
            <a:avLst/>
          </a:prstGeom>
          <a:noFill/>
        </p:spPr>
        <p:txBody>
          <a:bodyPr wrap="square" lIns="0" tIns="0" rIns="0" bIns="0" anchor="t">
            <a:spAutoFit/>
          </a:bodyPr>
          <a:lstStyle/>
          <a:p>
            <a:pPr algn="ctr">
              <a:lnSpc>
                <a:spcPct val="115000"/>
              </a:lnSpc>
            </a:pPr>
            <a:r>
              <a:rPr sz="1050" b="1" dirty="0">
                <a:solidFill>
                  <a:srgbClr val="8A94A8"/>
                </a:solidFill>
                <a:latin typeface="Vazirmatn"/>
                <a:ea typeface="Vazirmatn"/>
                <a:cs typeface="Vazirmatn"/>
              </a:rPr>
              <a:t>Facial matches are clues—not proof.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0141F"/>
          </a:solidFill>
          <a:ln>
            <a:noFill/>
          </a:ln>
          <a:effectLst/>
        </p:spPr>
        <p:txBody>
          <a:bodyPr rtlCol="0" anchor="ctr"/>
          <a:lstStyle/>
          <a:p>
            <a:pPr algn="ctr"/>
            <a:endParaRPr/>
          </a:p>
        </p:txBody>
      </p:sp>
      <p:sp>
        <p:nvSpPr>
          <p:cNvPr id="3" name="Rounded Rectangle 2"/>
          <p:cNvSpPr/>
          <p:nvPr/>
        </p:nvSpPr>
        <p:spPr>
          <a:xfrm>
            <a:off x="822960" y="438912"/>
            <a:ext cx="2720340" cy="310896"/>
          </a:xfrm>
          <a:prstGeom prst="roundRect">
            <a:avLst>
              <a:gd name="adj" fmla="val 18000"/>
            </a:avLst>
          </a:prstGeom>
          <a:solidFill>
            <a:srgbClr val="1E3A5F"/>
          </a:solidFill>
          <a:ln>
            <a:noFill/>
          </a:ln>
          <a:effectLst/>
        </p:spPr>
        <p:txBody>
          <a:bodyPr rtlCol="0" anchor="ctr"/>
          <a:lstStyle/>
          <a:p>
            <a:pPr algn="ctr"/>
            <a:endParaRPr/>
          </a:p>
        </p:txBody>
      </p:sp>
      <p:sp>
        <p:nvSpPr>
          <p:cNvPr id="4" name="TextBox 3"/>
          <p:cNvSpPr txBox="1"/>
          <p:nvPr/>
        </p:nvSpPr>
        <p:spPr>
          <a:xfrm>
            <a:off x="822960" y="452628"/>
            <a:ext cx="2720340" cy="283464"/>
          </a:xfrm>
          <a:prstGeom prst="rect">
            <a:avLst/>
          </a:prstGeom>
          <a:noFill/>
        </p:spPr>
        <p:txBody>
          <a:bodyPr wrap="square" lIns="0" tIns="0" rIns="0" bIns="0" anchor="ctr">
            <a:spAutoFit/>
          </a:bodyPr>
          <a:lstStyle/>
          <a:p>
            <a:pPr algn="ctr">
              <a:lnSpc>
                <a:spcPct val="115000"/>
              </a:lnSpc>
            </a:pPr>
            <a:r>
              <a:rPr sz="1050" b="1" dirty="0">
                <a:solidFill>
                  <a:srgbClr val="5EA0F2"/>
                </a:solidFill>
                <a:latin typeface="Vazirmatn"/>
                <a:ea typeface="Vazirmatn"/>
                <a:cs typeface="Vazirmatn"/>
              </a:rPr>
              <a:t>CASE FILE 04 · TRUST BOUNDARIES</a:t>
            </a:r>
          </a:p>
        </p:txBody>
      </p:sp>
      <p:sp>
        <p:nvSpPr>
          <p:cNvPr id="5" name="TextBox 4"/>
          <p:cNvSpPr txBox="1"/>
          <p:nvPr/>
        </p:nvSpPr>
        <p:spPr>
          <a:xfrm>
            <a:off x="822960" y="859536"/>
            <a:ext cx="10545775" cy="713232"/>
          </a:xfrm>
          <a:prstGeom prst="rect">
            <a:avLst/>
          </a:prstGeom>
          <a:noFill/>
        </p:spPr>
        <p:txBody>
          <a:bodyPr wrap="square" lIns="0" tIns="0" rIns="0" bIns="0" anchor="t">
            <a:spAutoFit/>
          </a:bodyPr>
          <a:lstStyle/>
          <a:p>
            <a:pPr algn="l">
              <a:lnSpc>
                <a:spcPct val="105000"/>
              </a:lnSpc>
            </a:pPr>
            <a:r>
              <a:rPr sz="2800" b="0" dirty="0">
                <a:solidFill>
                  <a:srgbClr val="F2F5FA"/>
                </a:solidFill>
                <a:latin typeface="Vazirmatn"/>
                <a:ea typeface="Vazirmatn"/>
                <a:cs typeface="Vazirmatn"/>
              </a:rPr>
              <a:t>VPNs and Extensions: The Privacy Paradox</a:t>
            </a:r>
          </a:p>
        </p:txBody>
      </p:sp>
      <p:sp>
        <p:nvSpPr>
          <p:cNvPr id="6" name="Rectangle 5"/>
          <p:cNvSpPr/>
          <p:nvPr/>
        </p:nvSpPr>
        <p:spPr>
          <a:xfrm>
            <a:off x="822960" y="1664208"/>
            <a:ext cx="594360" cy="45720"/>
          </a:xfrm>
          <a:prstGeom prst="rect">
            <a:avLst/>
          </a:prstGeom>
          <a:solidFill>
            <a:srgbClr val="5EA0F2"/>
          </a:solidFill>
          <a:ln>
            <a:noFill/>
          </a:ln>
          <a:effectLst/>
        </p:spPr>
        <p:txBody>
          <a:bodyPr rtlCol="0" anchor="ctr"/>
          <a:lstStyle/>
          <a:p>
            <a:pPr algn="ctr"/>
            <a:endParaRPr/>
          </a:p>
        </p:txBody>
      </p:sp>
      <p:sp>
        <p:nvSpPr>
          <p:cNvPr id="7" name="TextBox 6"/>
          <p:cNvSpPr txBox="1"/>
          <p:nvPr/>
        </p:nvSpPr>
        <p:spPr>
          <a:xfrm>
            <a:off x="10820095" y="6473952"/>
            <a:ext cx="548640" cy="256032"/>
          </a:xfrm>
          <a:prstGeom prst="rect">
            <a:avLst/>
          </a:prstGeom>
          <a:noFill/>
        </p:spPr>
        <p:txBody>
          <a:bodyPr wrap="square" lIns="0" tIns="0" rIns="0" bIns="0" anchor="t">
            <a:spAutoFit/>
          </a:bodyPr>
          <a:lstStyle/>
          <a:p>
            <a:pPr algn="ctr">
              <a:lnSpc>
                <a:spcPct val="115000"/>
              </a:lnSpc>
            </a:pPr>
            <a:r>
              <a:rPr sz="1000" b="0">
                <a:solidFill>
                  <a:srgbClr val="8A94A8"/>
                </a:solidFill>
                <a:latin typeface="Vazirmatn"/>
                <a:ea typeface="Vazirmatn"/>
                <a:cs typeface="Vazirmatn"/>
              </a:rPr>
              <a:t>13</a:t>
            </a:r>
          </a:p>
        </p:txBody>
      </p:sp>
      <p:sp>
        <p:nvSpPr>
          <p:cNvPr id="8" name="Rounded Rectangle 7"/>
          <p:cNvSpPr/>
          <p:nvPr/>
        </p:nvSpPr>
        <p:spPr>
          <a:xfrm>
            <a:off x="822960" y="2066544"/>
            <a:ext cx="5090007" cy="3739896"/>
          </a:xfrm>
          <a:prstGeom prst="roundRect">
            <a:avLst>
              <a:gd name="adj" fmla="val 10000"/>
            </a:avLst>
          </a:prstGeom>
          <a:solidFill>
            <a:srgbClr val="1A2130"/>
          </a:solidFill>
          <a:ln w="9525">
            <a:solidFill>
              <a:srgbClr val="2A3348"/>
            </a:solidFill>
          </a:ln>
          <a:effectLst/>
        </p:spPr>
        <p:txBody>
          <a:bodyPr rtlCol="0" anchor="ctr"/>
          <a:lstStyle/>
          <a:p>
            <a:pPr algn="ctr"/>
            <a:endParaRPr/>
          </a:p>
        </p:txBody>
      </p:sp>
      <p:sp>
        <p:nvSpPr>
          <p:cNvPr id="9" name="Rectangle 8"/>
          <p:cNvSpPr/>
          <p:nvPr/>
        </p:nvSpPr>
        <p:spPr>
          <a:xfrm>
            <a:off x="1188720" y="2450592"/>
            <a:ext cx="365760" cy="50292"/>
          </a:xfrm>
          <a:prstGeom prst="rect">
            <a:avLst/>
          </a:prstGeom>
          <a:solidFill>
            <a:srgbClr val="5EA0F2"/>
          </a:solidFill>
          <a:ln>
            <a:noFill/>
          </a:ln>
          <a:effectLst/>
        </p:spPr>
        <p:txBody>
          <a:bodyPr rtlCol="0" anchor="ctr"/>
          <a:lstStyle/>
          <a:p>
            <a:pPr algn="ctr"/>
            <a:endParaRPr/>
          </a:p>
        </p:txBody>
      </p:sp>
      <p:sp>
        <p:nvSpPr>
          <p:cNvPr id="10" name="TextBox 9"/>
          <p:cNvSpPr txBox="1"/>
          <p:nvPr/>
        </p:nvSpPr>
        <p:spPr>
          <a:xfrm>
            <a:off x="1188720" y="2615184"/>
            <a:ext cx="4358487" cy="457200"/>
          </a:xfrm>
          <a:prstGeom prst="rect">
            <a:avLst/>
          </a:prstGeom>
          <a:noFill/>
        </p:spPr>
        <p:txBody>
          <a:bodyPr wrap="square" lIns="0" tIns="0" rIns="0" bIns="0" anchor="t">
            <a:spAutoFit/>
          </a:bodyPr>
          <a:lstStyle/>
          <a:p>
            <a:pPr algn="l">
              <a:lnSpc>
                <a:spcPct val="115000"/>
              </a:lnSpc>
            </a:pPr>
            <a:r>
              <a:rPr sz="1700" b="1">
                <a:solidFill>
                  <a:srgbClr val="F2F5FA"/>
                </a:solidFill>
                <a:latin typeface="Vazirmatn"/>
                <a:ea typeface="Vazirmatn"/>
                <a:cs typeface="Vazirmatn"/>
              </a:rPr>
              <a:t>The VPN myth</a:t>
            </a:r>
          </a:p>
        </p:txBody>
      </p:sp>
      <p:sp>
        <p:nvSpPr>
          <p:cNvPr id="11" name="Oval 10"/>
          <p:cNvSpPr/>
          <p:nvPr/>
        </p:nvSpPr>
        <p:spPr>
          <a:xfrm>
            <a:off x="1207008" y="3813048"/>
            <a:ext cx="91440" cy="91440"/>
          </a:xfrm>
          <a:prstGeom prst="ellipse">
            <a:avLst/>
          </a:prstGeom>
          <a:solidFill>
            <a:srgbClr val="5EA0F2"/>
          </a:solidFill>
          <a:ln>
            <a:noFill/>
          </a:ln>
          <a:effectLst/>
        </p:spPr>
        <p:txBody>
          <a:bodyPr rtlCol="0" anchor="ctr"/>
          <a:lstStyle/>
          <a:p>
            <a:pPr algn="ctr"/>
            <a:endParaRPr/>
          </a:p>
        </p:txBody>
      </p:sp>
      <p:sp>
        <p:nvSpPr>
          <p:cNvPr id="12" name="TextBox 11"/>
          <p:cNvSpPr txBox="1"/>
          <p:nvPr/>
        </p:nvSpPr>
        <p:spPr>
          <a:xfrm>
            <a:off x="1499616" y="3703320"/>
            <a:ext cx="4047591" cy="713232"/>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A VPN shifts who can see your traffic; it does not grant immunity</a:t>
            </a:r>
          </a:p>
        </p:txBody>
      </p:sp>
      <p:sp>
        <p:nvSpPr>
          <p:cNvPr id="13" name="Oval 12"/>
          <p:cNvSpPr/>
          <p:nvPr/>
        </p:nvSpPr>
        <p:spPr>
          <a:xfrm>
            <a:off x="1207008" y="4526280"/>
            <a:ext cx="91440" cy="91440"/>
          </a:xfrm>
          <a:prstGeom prst="ellipse">
            <a:avLst/>
          </a:prstGeom>
          <a:solidFill>
            <a:srgbClr val="5EA0F2"/>
          </a:solidFill>
          <a:ln>
            <a:noFill/>
          </a:ln>
          <a:effectLst/>
        </p:spPr>
        <p:txBody>
          <a:bodyPr rtlCol="0" anchor="ctr"/>
          <a:lstStyle/>
          <a:p>
            <a:pPr algn="ctr"/>
            <a:endParaRPr/>
          </a:p>
        </p:txBody>
      </p:sp>
      <p:sp>
        <p:nvSpPr>
          <p:cNvPr id="14" name="TextBox 13"/>
          <p:cNvSpPr txBox="1"/>
          <p:nvPr/>
        </p:nvSpPr>
        <p:spPr>
          <a:xfrm>
            <a:off x="1499616" y="4416552"/>
            <a:ext cx="4047591" cy="713232"/>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Trust moves from your ISP to the provider</a:t>
            </a:r>
          </a:p>
        </p:txBody>
      </p:sp>
      <p:sp>
        <p:nvSpPr>
          <p:cNvPr id="15" name="Rounded Rectangle 14"/>
          <p:cNvSpPr/>
          <p:nvPr/>
        </p:nvSpPr>
        <p:spPr>
          <a:xfrm>
            <a:off x="6278727" y="2066544"/>
            <a:ext cx="5090007" cy="3739896"/>
          </a:xfrm>
          <a:prstGeom prst="roundRect">
            <a:avLst>
              <a:gd name="adj" fmla="val 10000"/>
            </a:avLst>
          </a:prstGeom>
          <a:solidFill>
            <a:srgbClr val="212A3D"/>
          </a:solidFill>
          <a:ln w="9525">
            <a:solidFill>
              <a:srgbClr val="2A3348"/>
            </a:solidFill>
          </a:ln>
          <a:effectLst/>
        </p:spPr>
        <p:txBody>
          <a:bodyPr rtlCol="0" anchor="ctr"/>
          <a:lstStyle/>
          <a:p>
            <a:pPr algn="ctr"/>
            <a:endParaRPr/>
          </a:p>
        </p:txBody>
      </p:sp>
      <p:sp>
        <p:nvSpPr>
          <p:cNvPr id="16" name="Rectangle 15"/>
          <p:cNvSpPr/>
          <p:nvPr/>
        </p:nvSpPr>
        <p:spPr>
          <a:xfrm>
            <a:off x="6644487" y="2450592"/>
            <a:ext cx="365760" cy="50292"/>
          </a:xfrm>
          <a:prstGeom prst="rect">
            <a:avLst/>
          </a:prstGeom>
          <a:solidFill>
            <a:srgbClr val="9FB4D8"/>
          </a:solidFill>
          <a:ln>
            <a:noFill/>
          </a:ln>
          <a:effectLst/>
        </p:spPr>
        <p:txBody>
          <a:bodyPr rtlCol="0" anchor="ctr"/>
          <a:lstStyle/>
          <a:p>
            <a:pPr algn="ctr"/>
            <a:endParaRPr/>
          </a:p>
        </p:txBody>
      </p:sp>
      <p:sp>
        <p:nvSpPr>
          <p:cNvPr id="17" name="TextBox 16"/>
          <p:cNvSpPr txBox="1"/>
          <p:nvPr/>
        </p:nvSpPr>
        <p:spPr>
          <a:xfrm>
            <a:off x="6644487" y="2615184"/>
            <a:ext cx="4358487" cy="457200"/>
          </a:xfrm>
          <a:prstGeom prst="rect">
            <a:avLst/>
          </a:prstGeom>
          <a:noFill/>
        </p:spPr>
        <p:txBody>
          <a:bodyPr wrap="square" lIns="0" tIns="0" rIns="0" bIns="0" anchor="t">
            <a:spAutoFit/>
          </a:bodyPr>
          <a:lstStyle/>
          <a:p>
            <a:pPr algn="l">
              <a:lnSpc>
                <a:spcPct val="115000"/>
              </a:lnSpc>
            </a:pPr>
            <a:r>
              <a:rPr sz="1700" b="1">
                <a:solidFill>
                  <a:srgbClr val="F2F5FA"/>
                </a:solidFill>
                <a:latin typeface="Vazirmatn"/>
                <a:ea typeface="Vazirmatn"/>
                <a:cs typeface="Vazirmatn"/>
              </a:rPr>
              <a:t>The extension paradox</a:t>
            </a:r>
          </a:p>
        </p:txBody>
      </p:sp>
      <p:sp>
        <p:nvSpPr>
          <p:cNvPr id="18" name="Oval 17"/>
          <p:cNvSpPr/>
          <p:nvPr/>
        </p:nvSpPr>
        <p:spPr>
          <a:xfrm>
            <a:off x="6662775" y="3813048"/>
            <a:ext cx="91440" cy="91440"/>
          </a:xfrm>
          <a:prstGeom prst="ellipse">
            <a:avLst/>
          </a:prstGeom>
          <a:solidFill>
            <a:srgbClr val="9FB4D8"/>
          </a:solidFill>
          <a:ln>
            <a:noFill/>
          </a:ln>
          <a:effectLst/>
        </p:spPr>
        <p:txBody>
          <a:bodyPr rtlCol="0" anchor="ctr"/>
          <a:lstStyle/>
          <a:p>
            <a:pPr algn="ctr"/>
            <a:endParaRPr/>
          </a:p>
        </p:txBody>
      </p:sp>
      <p:sp>
        <p:nvSpPr>
          <p:cNvPr id="19" name="TextBox 18"/>
          <p:cNvSpPr txBox="1"/>
          <p:nvPr/>
        </p:nvSpPr>
        <p:spPr>
          <a:xfrm>
            <a:off x="6955383" y="3703320"/>
            <a:ext cx="4047591" cy="713232"/>
          </a:xfrm>
          <a:prstGeom prst="rect">
            <a:avLst/>
          </a:prstGeom>
          <a:noFill/>
        </p:spPr>
        <p:txBody>
          <a:bodyPr wrap="square" lIns="0" tIns="0" rIns="0" bIns="0" anchor="t">
            <a:spAutoFit/>
          </a:bodyPr>
          <a:lstStyle/>
          <a:p>
            <a:pPr algn="l">
              <a:lnSpc>
                <a:spcPct val="120000"/>
              </a:lnSpc>
            </a:pPr>
            <a:r>
              <a:rPr sz="1300" b="0">
                <a:solidFill>
                  <a:srgbClr val="F2F5FA"/>
                </a:solidFill>
                <a:latin typeface="Vazirmatn"/>
                <a:ea typeface="Vazirmatn"/>
                <a:cs typeface="Vazirmatn"/>
              </a:rPr>
              <a:t>More extensions can make your fingerprint more unique</a:t>
            </a:r>
          </a:p>
        </p:txBody>
      </p:sp>
      <p:sp>
        <p:nvSpPr>
          <p:cNvPr id="20" name="Oval 19"/>
          <p:cNvSpPr/>
          <p:nvPr/>
        </p:nvSpPr>
        <p:spPr>
          <a:xfrm>
            <a:off x="6662775" y="4526280"/>
            <a:ext cx="91440" cy="91440"/>
          </a:xfrm>
          <a:prstGeom prst="ellipse">
            <a:avLst/>
          </a:prstGeom>
          <a:solidFill>
            <a:srgbClr val="9FB4D8"/>
          </a:solidFill>
          <a:ln>
            <a:noFill/>
          </a:ln>
          <a:effectLst/>
        </p:spPr>
        <p:txBody>
          <a:bodyPr rtlCol="0" anchor="ctr"/>
          <a:lstStyle/>
          <a:p>
            <a:pPr algn="ctr"/>
            <a:endParaRPr/>
          </a:p>
        </p:txBody>
      </p:sp>
      <p:sp>
        <p:nvSpPr>
          <p:cNvPr id="21" name="TextBox 20"/>
          <p:cNvSpPr txBox="1"/>
          <p:nvPr/>
        </p:nvSpPr>
        <p:spPr>
          <a:xfrm>
            <a:off x="6955383" y="4416552"/>
            <a:ext cx="4047591" cy="713232"/>
          </a:xfrm>
          <a:prstGeom prst="rect">
            <a:avLst/>
          </a:prstGeom>
          <a:noFill/>
        </p:spPr>
        <p:txBody>
          <a:bodyPr wrap="square" lIns="0" tIns="0" rIns="0" bIns="0" anchor="t">
            <a:spAutoFit/>
          </a:bodyPr>
          <a:lstStyle/>
          <a:p>
            <a:pPr algn="l">
              <a:lnSpc>
                <a:spcPct val="120000"/>
              </a:lnSpc>
            </a:pPr>
            <a:r>
              <a:rPr sz="1300" b="0" dirty="0">
                <a:solidFill>
                  <a:srgbClr val="F2F5FA"/>
                </a:solidFill>
                <a:latin typeface="Vazirmatn"/>
                <a:ea typeface="Vazirmatn"/>
                <a:cs typeface="Vazirmatn"/>
              </a:rPr>
              <a:t>Looking distinctive defeats blending in</a:t>
            </a:r>
          </a:p>
        </p:txBody>
      </p:sp>
      <p:sp>
        <p:nvSpPr>
          <p:cNvPr id="22" name="Rounded Rectangle 21"/>
          <p:cNvSpPr/>
          <p:nvPr/>
        </p:nvSpPr>
        <p:spPr>
          <a:xfrm>
            <a:off x="822960" y="5989320"/>
            <a:ext cx="10545775" cy="548640"/>
          </a:xfrm>
          <a:prstGeom prst="roundRect">
            <a:avLst>
              <a:gd name="adj" fmla="val 30000"/>
            </a:avLst>
          </a:prstGeom>
          <a:solidFill>
            <a:srgbClr val="1E3A5F"/>
          </a:solidFill>
          <a:ln>
            <a:noFill/>
          </a:ln>
          <a:effectLst/>
        </p:spPr>
        <p:txBody>
          <a:bodyPr rtlCol="0" anchor="ctr"/>
          <a:lstStyle/>
          <a:p>
            <a:pPr algn="ctr"/>
            <a:endParaRPr/>
          </a:p>
        </p:txBody>
      </p:sp>
      <p:sp>
        <p:nvSpPr>
          <p:cNvPr id="23" name="TextBox 22"/>
          <p:cNvSpPr txBox="1"/>
          <p:nvPr/>
        </p:nvSpPr>
        <p:spPr>
          <a:xfrm>
            <a:off x="1188720" y="5989320"/>
            <a:ext cx="9814255" cy="548640"/>
          </a:xfrm>
          <a:prstGeom prst="rect">
            <a:avLst/>
          </a:prstGeom>
          <a:noFill/>
        </p:spPr>
        <p:txBody>
          <a:bodyPr wrap="square" lIns="0" tIns="0" rIns="0" bIns="0" anchor="ctr">
            <a:spAutoFit/>
          </a:bodyPr>
          <a:lstStyle/>
          <a:p>
            <a:pPr algn="ctr">
              <a:lnSpc>
                <a:spcPct val="115000"/>
              </a:lnSpc>
            </a:pPr>
            <a:r>
              <a:rPr sz="1300" b="1" dirty="0">
                <a:solidFill>
                  <a:srgbClr val="F2F5FA"/>
                </a:solidFill>
                <a:latin typeface="Vazirmatn"/>
                <a:ea typeface="Vazirmatn"/>
                <a:cs typeface="Vazirmatn"/>
              </a:rPr>
              <a:t>Anonymity loves company — you cannot hide by looking unique.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B034C4-29FC-23D4-4823-373BE9DC6C53}"/>
              </a:ext>
            </a:extLst>
          </p:cNvPr>
          <p:cNvSpPr/>
          <p:nvPr/>
        </p:nvSpPr>
        <p:spPr>
          <a:xfrm>
            <a:off x="0" y="0"/>
            <a:ext cx="12191695" cy="6858000"/>
          </a:xfrm>
          <a:prstGeom prst="rect">
            <a:avLst/>
          </a:prstGeom>
          <a:solidFill>
            <a:srgbClr val="10141F"/>
          </a:solidFill>
          <a:ln>
            <a:noFill/>
          </a:ln>
          <a:effectLst/>
        </p:spPr>
        <p:txBody>
          <a:bodyPr rtlCol="0" anchor="ctr"/>
          <a:lstStyle/>
          <a:p>
            <a:pPr algn="l">
              <a:lnSpc>
                <a:spcPct val="105000"/>
              </a:lnSpc>
            </a:pPr>
            <a:endParaRPr lang="en-US" sz="1800" b="0" dirty="0">
              <a:solidFill>
                <a:srgbClr val="F2F5FA"/>
              </a:solidFill>
              <a:latin typeface="Vazirmatn"/>
              <a:ea typeface="Vazirmatn"/>
              <a:cs typeface="Vazirmatn"/>
            </a:endParaRPr>
          </a:p>
        </p:txBody>
      </p:sp>
      <p:pic>
        <p:nvPicPr>
          <p:cNvPr id="3" name="Picture 2">
            <a:extLst>
              <a:ext uri="{FF2B5EF4-FFF2-40B4-BE49-F238E27FC236}">
                <a16:creationId xmlns:a16="http://schemas.microsoft.com/office/drawing/2014/main" id="{F9ED4CD5-380D-5814-1D86-327D88EE8CD9}"/>
              </a:ext>
            </a:extLst>
          </p:cNvPr>
          <p:cNvPicPr>
            <a:picLocks noChangeAspect="1"/>
          </p:cNvPicPr>
          <p:nvPr/>
        </p:nvPicPr>
        <p:blipFill>
          <a:blip r:embed="rId2"/>
          <a:stretch>
            <a:fillRect/>
          </a:stretch>
        </p:blipFill>
        <p:spPr>
          <a:xfrm>
            <a:off x="7239178" y="1262254"/>
            <a:ext cx="2987334" cy="5012644"/>
          </a:xfrm>
          <a:prstGeom prst="rect">
            <a:avLst/>
          </a:prstGeom>
        </p:spPr>
      </p:pic>
      <p:sp>
        <p:nvSpPr>
          <p:cNvPr id="4" name="TextBox 3">
            <a:extLst>
              <a:ext uri="{FF2B5EF4-FFF2-40B4-BE49-F238E27FC236}">
                <a16:creationId xmlns:a16="http://schemas.microsoft.com/office/drawing/2014/main" id="{BAF8C46D-2DFA-9F74-7C50-0DDC2F4C262E}"/>
              </a:ext>
            </a:extLst>
          </p:cNvPr>
          <p:cNvSpPr txBox="1"/>
          <p:nvPr/>
        </p:nvSpPr>
        <p:spPr>
          <a:xfrm>
            <a:off x="702888" y="828161"/>
            <a:ext cx="10545775" cy="434093"/>
          </a:xfrm>
          <a:prstGeom prst="rect">
            <a:avLst/>
          </a:prstGeom>
          <a:noFill/>
        </p:spPr>
        <p:txBody>
          <a:bodyPr wrap="square" lIns="0" tIns="0" rIns="0" bIns="0" anchor="t">
            <a:spAutoFit/>
          </a:bodyPr>
          <a:lstStyle/>
          <a:p>
            <a:pPr algn="l">
              <a:lnSpc>
                <a:spcPct val="105000"/>
              </a:lnSpc>
            </a:pPr>
            <a:r>
              <a:rPr lang="en-US" sz="2800" b="0" dirty="0">
                <a:solidFill>
                  <a:srgbClr val="F2F5FA"/>
                </a:solidFill>
                <a:latin typeface="Vazirmatn"/>
                <a:ea typeface="Vazirmatn"/>
                <a:cs typeface="Vazirmatn"/>
              </a:rPr>
              <a:t>My Book suggestion if you are interested </a:t>
            </a:r>
            <a:endParaRPr sz="2800" b="0" dirty="0">
              <a:solidFill>
                <a:srgbClr val="F2F5FA"/>
              </a:solidFill>
              <a:latin typeface="Vazirmatn"/>
              <a:ea typeface="Vazirmatn"/>
              <a:cs typeface="Vazirmatn"/>
            </a:endParaRPr>
          </a:p>
        </p:txBody>
      </p:sp>
      <p:sp>
        <p:nvSpPr>
          <p:cNvPr id="11" name="TextBox 10">
            <a:extLst>
              <a:ext uri="{FF2B5EF4-FFF2-40B4-BE49-F238E27FC236}">
                <a16:creationId xmlns:a16="http://schemas.microsoft.com/office/drawing/2014/main" id="{6CDB362C-5FA4-FBD9-F691-C00880316CA1}"/>
              </a:ext>
            </a:extLst>
          </p:cNvPr>
          <p:cNvSpPr txBox="1"/>
          <p:nvPr/>
        </p:nvSpPr>
        <p:spPr>
          <a:xfrm>
            <a:off x="702888" y="2883252"/>
            <a:ext cx="6436822" cy="569900"/>
          </a:xfrm>
          <a:prstGeom prst="rect">
            <a:avLst/>
          </a:prstGeom>
          <a:noFill/>
        </p:spPr>
        <p:txBody>
          <a:bodyPr wrap="square" lIns="0" tIns="0" rIns="0" bIns="0" anchor="t">
            <a:spAutoFit/>
          </a:bodyPr>
          <a:lstStyle/>
          <a:p>
            <a:pPr algn="l">
              <a:lnSpc>
                <a:spcPct val="105000"/>
              </a:lnSpc>
            </a:pPr>
            <a:r>
              <a:rPr lang="en-US" b="0" dirty="0">
                <a:solidFill>
                  <a:srgbClr val="F2F5FA"/>
                </a:solidFill>
                <a:latin typeface="Vazirmatn"/>
                <a:ea typeface="Vazirmatn"/>
                <a:cs typeface="Vazirmatn"/>
              </a:rPr>
              <a:t>Michael </a:t>
            </a:r>
            <a:r>
              <a:rPr lang="en-US" b="0" dirty="0" err="1">
                <a:solidFill>
                  <a:srgbClr val="F2F5FA"/>
                </a:solidFill>
                <a:latin typeface="Vazirmatn"/>
                <a:ea typeface="Vazirmatn"/>
                <a:cs typeface="Vazirmatn"/>
              </a:rPr>
              <a:t>Bazzell</a:t>
            </a:r>
            <a:r>
              <a:rPr lang="en-US" b="0" dirty="0">
                <a:solidFill>
                  <a:srgbClr val="F2F5FA"/>
                </a:solidFill>
                <a:latin typeface="Vazirmatn"/>
                <a:ea typeface="Vazirmatn"/>
                <a:cs typeface="Vazirmatn"/>
              </a:rPr>
              <a:t> is a professional OSINT &amp; Forensic investigator on behalf of the US Gov </a:t>
            </a:r>
          </a:p>
        </p:txBody>
      </p:sp>
    </p:spTree>
    <p:extLst>
      <p:ext uri="{BB962C8B-B14F-4D97-AF65-F5344CB8AC3E}">
        <p14:creationId xmlns:p14="http://schemas.microsoft.com/office/powerpoint/2010/main" val="3374493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rotWithShape="1">
            <a:gsLst>
              <a:gs pos="0">
                <a:srgbClr val="2D3038"/>
              </a:gs>
              <a:gs pos="100000">
                <a:srgbClr val="0B0F18"/>
              </a:gs>
            </a:gsLst>
            <a:lin ang="5400000" scaled="0"/>
          </a:gradFill>
          <a:ln>
            <a:noFill/>
          </a:ln>
          <a:effectLst/>
        </p:spPr>
        <p:txBody>
          <a:bodyPr rtlCol="0" anchor="ctr"/>
          <a:lstStyle/>
          <a:p>
            <a:pPr algn="ctr"/>
            <a:endParaRPr/>
          </a:p>
        </p:txBody>
      </p:sp>
      <p:sp>
        <p:nvSpPr>
          <p:cNvPr id="3" name="Oval 2"/>
          <p:cNvSpPr/>
          <p:nvPr/>
        </p:nvSpPr>
        <p:spPr>
          <a:xfrm>
            <a:off x="11469319" y="4709160"/>
            <a:ext cx="82296" cy="82296"/>
          </a:xfrm>
          <a:prstGeom prst="ellipse">
            <a:avLst/>
          </a:prstGeom>
          <a:solidFill>
            <a:srgbClr val="9FB4D8"/>
          </a:solidFill>
          <a:ln>
            <a:noFill/>
          </a:ln>
          <a:effectLst/>
        </p:spPr>
        <p:txBody>
          <a:bodyPr rtlCol="0" anchor="ctr"/>
          <a:lstStyle/>
          <a:p>
            <a:pPr algn="ctr"/>
            <a:endParaRPr/>
          </a:p>
        </p:txBody>
      </p:sp>
      <p:sp>
        <p:nvSpPr>
          <p:cNvPr id="4" name="Oval 3"/>
          <p:cNvSpPr/>
          <p:nvPr/>
        </p:nvSpPr>
        <p:spPr>
          <a:xfrm>
            <a:off x="10701223" y="4709160"/>
            <a:ext cx="82296" cy="82296"/>
          </a:xfrm>
          <a:prstGeom prst="ellipse">
            <a:avLst/>
          </a:prstGeom>
          <a:solidFill>
            <a:srgbClr val="9FB4D8"/>
          </a:solidFill>
          <a:ln>
            <a:noFill/>
          </a:ln>
          <a:effectLst/>
        </p:spPr>
        <p:txBody>
          <a:bodyPr rtlCol="0" anchor="ctr"/>
          <a:lstStyle/>
          <a:p>
            <a:pPr algn="ctr"/>
            <a:endParaRPr/>
          </a:p>
        </p:txBody>
      </p:sp>
      <p:sp>
        <p:nvSpPr>
          <p:cNvPr id="5" name="Oval 4"/>
          <p:cNvSpPr/>
          <p:nvPr/>
        </p:nvSpPr>
        <p:spPr>
          <a:xfrm>
            <a:off x="9933127" y="4709160"/>
            <a:ext cx="82296" cy="82296"/>
          </a:xfrm>
          <a:prstGeom prst="ellipse">
            <a:avLst/>
          </a:prstGeom>
          <a:solidFill>
            <a:srgbClr val="9FB4D8"/>
          </a:solidFill>
          <a:ln>
            <a:noFill/>
          </a:ln>
          <a:effectLst/>
        </p:spPr>
        <p:txBody>
          <a:bodyPr rtlCol="0" anchor="ctr"/>
          <a:lstStyle/>
          <a:p>
            <a:pPr algn="ctr"/>
            <a:endParaRPr/>
          </a:p>
        </p:txBody>
      </p:sp>
      <p:sp>
        <p:nvSpPr>
          <p:cNvPr id="6" name="Oval 5"/>
          <p:cNvSpPr/>
          <p:nvPr/>
        </p:nvSpPr>
        <p:spPr>
          <a:xfrm>
            <a:off x="9165031" y="4709160"/>
            <a:ext cx="82296" cy="82296"/>
          </a:xfrm>
          <a:prstGeom prst="ellipse">
            <a:avLst/>
          </a:prstGeom>
          <a:solidFill>
            <a:srgbClr val="9FB4D8"/>
          </a:solidFill>
          <a:ln>
            <a:noFill/>
          </a:ln>
          <a:effectLst/>
        </p:spPr>
        <p:txBody>
          <a:bodyPr rtlCol="0" anchor="ctr"/>
          <a:lstStyle/>
          <a:p>
            <a:pPr algn="ctr"/>
            <a:endParaRPr/>
          </a:p>
        </p:txBody>
      </p:sp>
      <p:sp>
        <p:nvSpPr>
          <p:cNvPr id="7" name="Oval 6"/>
          <p:cNvSpPr/>
          <p:nvPr/>
        </p:nvSpPr>
        <p:spPr>
          <a:xfrm>
            <a:off x="8396935" y="4709160"/>
            <a:ext cx="82296" cy="82296"/>
          </a:xfrm>
          <a:prstGeom prst="ellipse">
            <a:avLst/>
          </a:prstGeom>
          <a:solidFill>
            <a:srgbClr val="9FB4D8"/>
          </a:solidFill>
          <a:ln>
            <a:noFill/>
          </a:ln>
          <a:effectLst/>
        </p:spPr>
        <p:txBody>
          <a:bodyPr rtlCol="0" anchor="ctr"/>
          <a:lstStyle/>
          <a:p>
            <a:pPr algn="ctr"/>
            <a:endParaRPr/>
          </a:p>
        </p:txBody>
      </p:sp>
      <p:sp>
        <p:nvSpPr>
          <p:cNvPr id="8" name="Oval 7"/>
          <p:cNvSpPr/>
          <p:nvPr/>
        </p:nvSpPr>
        <p:spPr>
          <a:xfrm>
            <a:off x="11085271" y="5093208"/>
            <a:ext cx="82296" cy="82296"/>
          </a:xfrm>
          <a:prstGeom prst="ellipse">
            <a:avLst/>
          </a:prstGeom>
          <a:solidFill>
            <a:srgbClr val="9FB4D8"/>
          </a:solidFill>
          <a:ln>
            <a:noFill/>
          </a:ln>
          <a:effectLst/>
        </p:spPr>
        <p:txBody>
          <a:bodyPr rtlCol="0" anchor="ctr"/>
          <a:lstStyle/>
          <a:p>
            <a:pPr algn="ctr"/>
            <a:endParaRPr/>
          </a:p>
        </p:txBody>
      </p:sp>
      <p:sp>
        <p:nvSpPr>
          <p:cNvPr id="9" name="Oval 8"/>
          <p:cNvSpPr/>
          <p:nvPr/>
        </p:nvSpPr>
        <p:spPr>
          <a:xfrm>
            <a:off x="10317175" y="5093208"/>
            <a:ext cx="82296" cy="82296"/>
          </a:xfrm>
          <a:prstGeom prst="ellipse">
            <a:avLst/>
          </a:prstGeom>
          <a:solidFill>
            <a:srgbClr val="9FB4D8"/>
          </a:solidFill>
          <a:ln>
            <a:noFill/>
          </a:ln>
          <a:effectLst/>
        </p:spPr>
        <p:txBody>
          <a:bodyPr rtlCol="0" anchor="ctr"/>
          <a:lstStyle/>
          <a:p>
            <a:pPr algn="ctr"/>
            <a:endParaRPr/>
          </a:p>
        </p:txBody>
      </p:sp>
      <p:sp>
        <p:nvSpPr>
          <p:cNvPr id="10" name="Oval 9"/>
          <p:cNvSpPr/>
          <p:nvPr/>
        </p:nvSpPr>
        <p:spPr>
          <a:xfrm>
            <a:off x="9549079" y="5093208"/>
            <a:ext cx="82296" cy="82296"/>
          </a:xfrm>
          <a:prstGeom prst="ellipse">
            <a:avLst/>
          </a:prstGeom>
          <a:solidFill>
            <a:srgbClr val="9FB4D8"/>
          </a:solidFill>
          <a:ln>
            <a:noFill/>
          </a:ln>
          <a:effectLst/>
        </p:spPr>
        <p:txBody>
          <a:bodyPr rtlCol="0" anchor="ctr"/>
          <a:lstStyle/>
          <a:p>
            <a:pPr algn="ctr"/>
            <a:endParaRPr/>
          </a:p>
        </p:txBody>
      </p:sp>
      <p:sp>
        <p:nvSpPr>
          <p:cNvPr id="11" name="Oval 10"/>
          <p:cNvSpPr/>
          <p:nvPr/>
        </p:nvSpPr>
        <p:spPr>
          <a:xfrm>
            <a:off x="8780983" y="5093208"/>
            <a:ext cx="82296" cy="82296"/>
          </a:xfrm>
          <a:prstGeom prst="ellipse">
            <a:avLst/>
          </a:prstGeom>
          <a:solidFill>
            <a:srgbClr val="9FB4D8"/>
          </a:solidFill>
          <a:ln>
            <a:noFill/>
          </a:ln>
          <a:effectLst/>
        </p:spPr>
        <p:txBody>
          <a:bodyPr rtlCol="0" anchor="ctr"/>
          <a:lstStyle/>
          <a:p>
            <a:pPr algn="ctr"/>
            <a:endParaRPr/>
          </a:p>
        </p:txBody>
      </p:sp>
      <p:sp>
        <p:nvSpPr>
          <p:cNvPr id="12" name="Oval 11"/>
          <p:cNvSpPr/>
          <p:nvPr/>
        </p:nvSpPr>
        <p:spPr>
          <a:xfrm>
            <a:off x="11469319" y="5477256"/>
            <a:ext cx="82296" cy="82296"/>
          </a:xfrm>
          <a:prstGeom prst="ellipse">
            <a:avLst/>
          </a:prstGeom>
          <a:solidFill>
            <a:srgbClr val="9FB4D8"/>
          </a:solidFill>
          <a:ln>
            <a:noFill/>
          </a:ln>
          <a:effectLst/>
        </p:spPr>
        <p:txBody>
          <a:bodyPr rtlCol="0" anchor="ctr"/>
          <a:lstStyle/>
          <a:p>
            <a:pPr algn="ctr"/>
            <a:endParaRPr/>
          </a:p>
        </p:txBody>
      </p:sp>
      <p:sp>
        <p:nvSpPr>
          <p:cNvPr id="13" name="Oval 12"/>
          <p:cNvSpPr/>
          <p:nvPr/>
        </p:nvSpPr>
        <p:spPr>
          <a:xfrm>
            <a:off x="10701223" y="5477256"/>
            <a:ext cx="82296" cy="82296"/>
          </a:xfrm>
          <a:prstGeom prst="ellipse">
            <a:avLst/>
          </a:prstGeom>
          <a:solidFill>
            <a:srgbClr val="9FB4D8"/>
          </a:solidFill>
          <a:ln>
            <a:noFill/>
          </a:ln>
          <a:effectLst/>
        </p:spPr>
        <p:txBody>
          <a:bodyPr rtlCol="0" anchor="ctr"/>
          <a:lstStyle/>
          <a:p>
            <a:pPr algn="ctr"/>
            <a:endParaRPr/>
          </a:p>
        </p:txBody>
      </p:sp>
      <p:sp>
        <p:nvSpPr>
          <p:cNvPr id="14" name="Oval 13"/>
          <p:cNvSpPr/>
          <p:nvPr/>
        </p:nvSpPr>
        <p:spPr>
          <a:xfrm>
            <a:off x="9933127" y="5477256"/>
            <a:ext cx="82296" cy="82296"/>
          </a:xfrm>
          <a:prstGeom prst="ellipse">
            <a:avLst/>
          </a:prstGeom>
          <a:solidFill>
            <a:srgbClr val="9FB4D8"/>
          </a:solidFill>
          <a:ln>
            <a:noFill/>
          </a:ln>
          <a:effectLst/>
        </p:spPr>
        <p:txBody>
          <a:bodyPr rtlCol="0" anchor="ctr"/>
          <a:lstStyle/>
          <a:p>
            <a:pPr algn="ctr"/>
            <a:endParaRPr/>
          </a:p>
        </p:txBody>
      </p:sp>
      <p:sp>
        <p:nvSpPr>
          <p:cNvPr id="15" name="Oval 14"/>
          <p:cNvSpPr/>
          <p:nvPr/>
        </p:nvSpPr>
        <p:spPr>
          <a:xfrm>
            <a:off x="9165031" y="5477256"/>
            <a:ext cx="82296" cy="82296"/>
          </a:xfrm>
          <a:prstGeom prst="ellipse">
            <a:avLst/>
          </a:prstGeom>
          <a:solidFill>
            <a:srgbClr val="9FB4D8"/>
          </a:solidFill>
          <a:ln>
            <a:noFill/>
          </a:ln>
          <a:effectLst/>
        </p:spPr>
        <p:txBody>
          <a:bodyPr rtlCol="0" anchor="ctr"/>
          <a:lstStyle/>
          <a:p>
            <a:pPr algn="ctr"/>
            <a:endParaRPr/>
          </a:p>
        </p:txBody>
      </p:sp>
      <p:sp>
        <p:nvSpPr>
          <p:cNvPr id="16" name="Oval 15"/>
          <p:cNvSpPr/>
          <p:nvPr/>
        </p:nvSpPr>
        <p:spPr>
          <a:xfrm>
            <a:off x="8396935" y="5477256"/>
            <a:ext cx="82296" cy="82296"/>
          </a:xfrm>
          <a:prstGeom prst="ellipse">
            <a:avLst/>
          </a:prstGeom>
          <a:solidFill>
            <a:srgbClr val="9FB4D8"/>
          </a:solidFill>
          <a:ln>
            <a:noFill/>
          </a:ln>
          <a:effectLst/>
        </p:spPr>
        <p:txBody>
          <a:bodyPr rtlCol="0" anchor="ctr"/>
          <a:lstStyle/>
          <a:p>
            <a:pPr algn="ctr"/>
            <a:endParaRPr/>
          </a:p>
        </p:txBody>
      </p:sp>
      <p:sp>
        <p:nvSpPr>
          <p:cNvPr id="17" name="Oval 16"/>
          <p:cNvSpPr/>
          <p:nvPr/>
        </p:nvSpPr>
        <p:spPr>
          <a:xfrm>
            <a:off x="11085271" y="5861304"/>
            <a:ext cx="82296" cy="82296"/>
          </a:xfrm>
          <a:prstGeom prst="ellipse">
            <a:avLst/>
          </a:prstGeom>
          <a:solidFill>
            <a:srgbClr val="9FB4D8"/>
          </a:solidFill>
          <a:ln>
            <a:noFill/>
          </a:ln>
          <a:effectLst/>
        </p:spPr>
        <p:txBody>
          <a:bodyPr rtlCol="0" anchor="ctr"/>
          <a:lstStyle/>
          <a:p>
            <a:pPr algn="ctr"/>
            <a:endParaRPr/>
          </a:p>
        </p:txBody>
      </p:sp>
      <p:sp>
        <p:nvSpPr>
          <p:cNvPr id="18" name="Oval 17"/>
          <p:cNvSpPr/>
          <p:nvPr/>
        </p:nvSpPr>
        <p:spPr>
          <a:xfrm>
            <a:off x="10317175" y="5861304"/>
            <a:ext cx="82296" cy="82296"/>
          </a:xfrm>
          <a:prstGeom prst="ellipse">
            <a:avLst/>
          </a:prstGeom>
          <a:solidFill>
            <a:srgbClr val="9FB4D8"/>
          </a:solidFill>
          <a:ln>
            <a:noFill/>
          </a:ln>
          <a:effectLst/>
        </p:spPr>
        <p:txBody>
          <a:bodyPr rtlCol="0" anchor="ctr"/>
          <a:lstStyle/>
          <a:p>
            <a:pPr algn="ctr"/>
            <a:endParaRPr/>
          </a:p>
        </p:txBody>
      </p:sp>
      <p:sp>
        <p:nvSpPr>
          <p:cNvPr id="19" name="Oval 18"/>
          <p:cNvSpPr/>
          <p:nvPr/>
        </p:nvSpPr>
        <p:spPr>
          <a:xfrm>
            <a:off x="9549079" y="5861304"/>
            <a:ext cx="82296" cy="82296"/>
          </a:xfrm>
          <a:prstGeom prst="ellipse">
            <a:avLst/>
          </a:prstGeom>
          <a:solidFill>
            <a:srgbClr val="9FB4D8"/>
          </a:solidFill>
          <a:ln>
            <a:noFill/>
          </a:ln>
          <a:effectLst/>
        </p:spPr>
        <p:txBody>
          <a:bodyPr rtlCol="0" anchor="ctr"/>
          <a:lstStyle/>
          <a:p>
            <a:pPr algn="ctr"/>
            <a:endParaRPr/>
          </a:p>
        </p:txBody>
      </p:sp>
      <p:sp>
        <p:nvSpPr>
          <p:cNvPr id="20" name="Oval 19"/>
          <p:cNvSpPr/>
          <p:nvPr/>
        </p:nvSpPr>
        <p:spPr>
          <a:xfrm>
            <a:off x="8780983" y="5861304"/>
            <a:ext cx="82296" cy="82296"/>
          </a:xfrm>
          <a:prstGeom prst="ellipse">
            <a:avLst/>
          </a:prstGeom>
          <a:solidFill>
            <a:srgbClr val="9FB4D8"/>
          </a:solidFill>
          <a:ln>
            <a:noFill/>
          </a:ln>
          <a:effectLst/>
        </p:spPr>
        <p:txBody>
          <a:bodyPr rtlCol="0" anchor="ctr"/>
          <a:lstStyle/>
          <a:p>
            <a:pPr algn="ctr"/>
            <a:endParaRPr/>
          </a:p>
        </p:txBody>
      </p:sp>
      <p:sp>
        <p:nvSpPr>
          <p:cNvPr id="21" name="Oval 20"/>
          <p:cNvSpPr/>
          <p:nvPr/>
        </p:nvSpPr>
        <p:spPr>
          <a:xfrm>
            <a:off x="11469319" y="6245352"/>
            <a:ext cx="82296" cy="82296"/>
          </a:xfrm>
          <a:prstGeom prst="ellipse">
            <a:avLst/>
          </a:prstGeom>
          <a:solidFill>
            <a:srgbClr val="9FB4D8"/>
          </a:solidFill>
          <a:ln>
            <a:noFill/>
          </a:ln>
          <a:effectLst/>
        </p:spPr>
        <p:txBody>
          <a:bodyPr rtlCol="0" anchor="ctr"/>
          <a:lstStyle/>
          <a:p>
            <a:pPr algn="ctr"/>
            <a:endParaRPr/>
          </a:p>
        </p:txBody>
      </p:sp>
      <p:sp>
        <p:nvSpPr>
          <p:cNvPr id="22" name="Oval 21"/>
          <p:cNvSpPr/>
          <p:nvPr/>
        </p:nvSpPr>
        <p:spPr>
          <a:xfrm>
            <a:off x="10701223" y="6245352"/>
            <a:ext cx="82296" cy="82296"/>
          </a:xfrm>
          <a:prstGeom prst="ellipse">
            <a:avLst/>
          </a:prstGeom>
          <a:solidFill>
            <a:srgbClr val="9FB4D8"/>
          </a:solidFill>
          <a:ln>
            <a:noFill/>
          </a:ln>
          <a:effectLst/>
        </p:spPr>
        <p:txBody>
          <a:bodyPr rtlCol="0" anchor="ctr"/>
          <a:lstStyle/>
          <a:p>
            <a:pPr algn="ctr"/>
            <a:endParaRPr/>
          </a:p>
        </p:txBody>
      </p:sp>
      <p:sp>
        <p:nvSpPr>
          <p:cNvPr id="23" name="Oval 22"/>
          <p:cNvSpPr/>
          <p:nvPr/>
        </p:nvSpPr>
        <p:spPr>
          <a:xfrm>
            <a:off x="9933127" y="6245352"/>
            <a:ext cx="82296" cy="82296"/>
          </a:xfrm>
          <a:prstGeom prst="ellipse">
            <a:avLst/>
          </a:prstGeom>
          <a:solidFill>
            <a:srgbClr val="9FB4D8"/>
          </a:solidFill>
          <a:ln>
            <a:noFill/>
          </a:ln>
          <a:effectLst/>
        </p:spPr>
        <p:txBody>
          <a:bodyPr rtlCol="0" anchor="ctr"/>
          <a:lstStyle/>
          <a:p>
            <a:pPr algn="ctr"/>
            <a:endParaRPr/>
          </a:p>
        </p:txBody>
      </p:sp>
      <p:sp>
        <p:nvSpPr>
          <p:cNvPr id="24" name="Oval 23"/>
          <p:cNvSpPr/>
          <p:nvPr/>
        </p:nvSpPr>
        <p:spPr>
          <a:xfrm>
            <a:off x="9165031" y="6245352"/>
            <a:ext cx="82296" cy="82296"/>
          </a:xfrm>
          <a:prstGeom prst="ellipse">
            <a:avLst/>
          </a:prstGeom>
          <a:solidFill>
            <a:srgbClr val="9FB4D8"/>
          </a:solidFill>
          <a:ln>
            <a:noFill/>
          </a:ln>
          <a:effectLst/>
        </p:spPr>
        <p:txBody>
          <a:bodyPr rtlCol="0" anchor="ctr"/>
          <a:lstStyle/>
          <a:p>
            <a:pPr algn="ctr"/>
            <a:endParaRPr/>
          </a:p>
        </p:txBody>
      </p:sp>
      <p:sp>
        <p:nvSpPr>
          <p:cNvPr id="25" name="Oval 24"/>
          <p:cNvSpPr/>
          <p:nvPr/>
        </p:nvSpPr>
        <p:spPr>
          <a:xfrm>
            <a:off x="8396935" y="6245352"/>
            <a:ext cx="82296" cy="82296"/>
          </a:xfrm>
          <a:prstGeom prst="ellipse">
            <a:avLst/>
          </a:prstGeom>
          <a:solidFill>
            <a:srgbClr val="9FB4D8"/>
          </a:solidFill>
          <a:ln>
            <a:noFill/>
          </a:ln>
          <a:effectLst/>
        </p:spPr>
        <p:txBody>
          <a:bodyPr rtlCol="0" anchor="ctr"/>
          <a:lstStyle/>
          <a:p>
            <a:pPr algn="ctr"/>
            <a:endParaRPr/>
          </a:p>
        </p:txBody>
      </p:sp>
      <p:sp>
        <p:nvSpPr>
          <p:cNvPr id="26" name="Rectangle 25"/>
          <p:cNvSpPr/>
          <p:nvPr/>
        </p:nvSpPr>
        <p:spPr>
          <a:xfrm>
            <a:off x="0" y="0"/>
            <a:ext cx="201168" cy="6858000"/>
          </a:xfrm>
          <a:prstGeom prst="rect">
            <a:avLst/>
          </a:prstGeom>
          <a:solidFill>
            <a:srgbClr val="5EA0F2"/>
          </a:solidFill>
          <a:ln>
            <a:noFill/>
          </a:ln>
          <a:effectLst/>
        </p:spPr>
        <p:txBody>
          <a:bodyPr rtlCol="0" anchor="ctr"/>
          <a:lstStyle/>
          <a:p>
            <a:pPr algn="ctr"/>
            <a:endParaRPr/>
          </a:p>
        </p:txBody>
      </p:sp>
      <p:sp>
        <p:nvSpPr>
          <p:cNvPr id="27" name="TextBox 26"/>
          <p:cNvSpPr txBox="1"/>
          <p:nvPr/>
        </p:nvSpPr>
        <p:spPr>
          <a:xfrm>
            <a:off x="1371600" y="2057400"/>
            <a:ext cx="9448495" cy="1234440"/>
          </a:xfrm>
          <a:prstGeom prst="rect">
            <a:avLst/>
          </a:prstGeom>
          <a:noFill/>
        </p:spPr>
        <p:txBody>
          <a:bodyPr wrap="square" lIns="0" tIns="0" rIns="0" bIns="0" anchor="t">
            <a:spAutoFit/>
          </a:bodyPr>
          <a:lstStyle/>
          <a:p>
            <a:pPr algn="ctr">
              <a:lnSpc>
                <a:spcPct val="105000"/>
              </a:lnSpc>
            </a:pPr>
            <a:r>
              <a:rPr sz="4200" b="1">
                <a:solidFill>
                  <a:srgbClr val="FFFFFF"/>
                </a:solidFill>
                <a:latin typeface="Vazirmatn"/>
                <a:ea typeface="Vazirmatn"/>
                <a:cs typeface="Vazirmatn"/>
              </a:rPr>
              <a:t>Privacy and OPSEC Are Habits</a:t>
            </a:r>
          </a:p>
        </p:txBody>
      </p:sp>
      <p:sp>
        <p:nvSpPr>
          <p:cNvPr id="28" name="TextBox 27"/>
          <p:cNvSpPr txBox="1"/>
          <p:nvPr/>
        </p:nvSpPr>
        <p:spPr>
          <a:xfrm>
            <a:off x="2011680" y="3474720"/>
            <a:ext cx="8168335" cy="731520"/>
          </a:xfrm>
          <a:prstGeom prst="rect">
            <a:avLst/>
          </a:prstGeom>
          <a:noFill/>
        </p:spPr>
        <p:txBody>
          <a:bodyPr wrap="square" lIns="0" tIns="0" rIns="0" bIns="0" anchor="t">
            <a:spAutoFit/>
          </a:bodyPr>
          <a:lstStyle/>
          <a:p>
            <a:pPr algn="ctr">
              <a:lnSpc>
                <a:spcPct val="130000"/>
              </a:lnSpc>
            </a:pPr>
            <a:r>
              <a:rPr sz="1600" b="0">
                <a:solidFill>
                  <a:srgbClr val="9FB4D8"/>
                </a:solidFill>
                <a:latin typeface="Vazirmatn"/>
                <a:ea typeface="Vazirmatn"/>
                <a:cs typeface="Vazirmatn"/>
              </a:rPr>
              <a:t>Behavior beats tools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TotalTime>
  <Words>2469</Words>
  <Application>Microsoft Office PowerPoint</Application>
  <PresentationFormat>Widescreen</PresentationFormat>
  <Paragraphs>210</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Vazirmatn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mr phenom</cp:lastModifiedBy>
  <cp:revision>3</cp:revision>
  <dcterms:created xsi:type="dcterms:W3CDTF">2013-01-27T09:14:16Z</dcterms:created>
  <dcterms:modified xsi:type="dcterms:W3CDTF">2026-10-12T08:02:10Z</dcterms:modified>
  <cp:category/>
</cp:coreProperties>
</file>